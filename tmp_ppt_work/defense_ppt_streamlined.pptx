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4" r:id="rId7"/>
    <p:sldId id="266" r:id="rId8"/>
    <p:sldId id="265" r:id="rId9"/>
    <p:sldId id="267" r:id="rId10"/>
    <p:sldId id="268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960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的设计与实现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365760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49560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    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：221404060413</a:t>
            </a:r>
            <a:endParaRPr lang="en-US" sz="1700" dirty="0"/>
          </a:p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计算机科学与技术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6080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HENAN UNIVERSITY OF SCIENCE &amp;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研究背景与课题目标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03504" y="9601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61.56%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用户日常获取信息渠道中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社交平台占比较高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17520" y="336990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065689"/>
            <a:ext cx="2194560" cy="438912"/>
          </a:xfrm>
          <a:prstGeom prst="round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网站系统持续面临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自动化攻击与风险扫描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1600200"/>
            <a:ext cx="0" cy="324612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75320" y="1499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课题目标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029967"/>
            <a:ext cx="3200400" cy="247463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10000"/>
          </a:bodyPr>
          <a:lstStyle/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实现一个基于微服务的社交平台原型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分析嵌入内容发布后的治理流程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将用户行为、内容质量与推荐展示关联起来
</a:t>
            </a:r>
            <a:endParaRPr lang="en-US" sz="1750" dirty="0"/>
          </a:p>
          <a:p>
            <a:r>
              <a:rPr lang="en-US" sz="1750" dirty="0" err="1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requestId 与审计日志保留关键请求与异常线索</a:t>
            </a:r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</a:rPr>
              <a:t>形成可追踪的内容治理闭环</a:t>
            </a:r>
            <a:endParaRPr lang="en-US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465ECE5-815A-D3EF-06AF-8174411BE4BB}"/>
              </a:ext>
            </a:extLst>
          </p:cNvPr>
          <p:cNvSpPr/>
          <p:nvPr/>
        </p:nvSpPr>
        <p:spPr>
          <a:xfrm>
            <a:off x="3177540" y="18265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</a:t>
            </a:r>
            <a:endParaRPr lang="en-US" sz="3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A62B512C-771F-E2C1-0139-9C480C6808E8}"/>
              </a:ext>
            </a:extLst>
          </p:cNvPr>
          <p:cNvSpPr/>
          <p:nvPr/>
        </p:nvSpPr>
        <p:spPr>
          <a:xfrm>
            <a:off x="3177540" y="2395728"/>
            <a:ext cx="1920240" cy="4389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生成式 AI 已降低</a:t>
            </a:r>
            <a:endParaRPr lang="en-US" sz="1350" dirty="0">
              <a:solidFill>
                <a:srgbClr val="506070"/>
              </a:solidFill>
              <a:latin typeface="Microsoft YaHei" pitchFamily="34" charset="0"/>
              <a:ea typeface="Microsoft YaHei" pitchFamily="34" charset="-122"/>
            </a:endParaRPr>
          </a:p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内容生产门槛</a:t>
            </a: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95EA1B8B-4986-91A7-5622-F5A784B0B3DF}"/>
              </a:ext>
            </a:extLst>
          </p:cNvPr>
          <p:cNvSpPr/>
          <p:nvPr/>
        </p:nvSpPr>
        <p:spPr>
          <a:xfrm>
            <a:off x="5440680" y="18630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zh-CN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</a:rPr>
              <a:t>内容治理</a:t>
            </a:r>
            <a:endParaRPr lang="en-US" sz="3000" b="1" dirty="0">
              <a:solidFill>
                <a:srgbClr val="245B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ED22872-7277-3BDA-D028-CFBE39F14673}"/>
              </a:ext>
            </a:extLst>
          </p:cNvPr>
          <p:cNvSpPr/>
          <p:nvPr/>
        </p:nvSpPr>
        <p:spPr>
          <a:xfrm>
            <a:off x="5440680" y="2396412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内容风险</a:t>
            </a:r>
            <a:endParaRPr lang="en-US" sz="1350" dirty="0"/>
          </a:p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虚假、低质与垃圾内容增加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总体架构：统一入口与分层协作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713232" y="960120"/>
            <a:ext cx="10561320" cy="502920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对外只有一个访问入口；对内按职责拆分服务，所有关键请求带 requestId。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客户端与前端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92224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06E76"/>
                </a:solidFill>
                <a:latin typeface="Microsoft YaHei"/>
              </a:defRPr>
            </a:pPr>
            <a:r>
              <a:t>浏览器访问 Nuxt3 前端；前端负责页面展示、交互和调用 API。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212848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578608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网关中间层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7860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06E76"/>
                </a:solidFill>
                <a:latin typeface="Microsoft YaHei"/>
              </a:defRPr>
            </a:pPr>
            <a:r>
              <a:t>api_gateway 统一转发到后端服务，并处理限流、requestId 透传和 WebSocket 代理。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2999232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364991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业务服务层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64991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06E76"/>
                </a:solidFill>
                <a:latin typeface="Microsoft YaHei"/>
              </a:defRPr>
            </a:pPr>
            <a:r>
              <a:t>user_service 管身份；blog_service 管内容、互动、推荐、通知；ai_service 管内容分析；chat_service 管私信。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3785615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151376"/>
            <a:ext cx="187451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51376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606E76"/>
                </a:solidFill>
                <a:latin typeface="Microsoft YaHei"/>
              </a:defRPr>
            </a:pPr>
            <a:r>
              <a:t>MySQL longseason 保存业务表、推荐事件、AI 分析结果和审计日志。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4572000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5230368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243846"/>
                </a:solidFill>
                <a:latin typeface="Microsoft YaHei"/>
              </a:defRPr>
            </a:pPr>
            <a:r>
              <a:t>讲述重点：架构图不是为了展示服务数量，而是说明请求路径、服务边界和追踪方式。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设计主线：从发文到追踪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22960" y="987552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核心不是把功能摆满，而是让内容从发布、治理、分发到追踪形成闭环。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572768"/>
            <a:ext cx="9966960" cy="0"/>
          </a:xfrm>
          <a:prstGeom prst="line">
            <a:avLst/>
          </a:prstGeom>
          <a:ln w="1778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240280"/>
            <a:ext cx="502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240280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43846"/>
                </a:solidFill>
                <a:latin typeface="Microsoft YaHei"/>
              </a:defRPr>
            </a:pPr>
            <a:r>
              <a:t>请求进入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40280"/>
            <a:ext cx="7772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606E76"/>
                </a:solidFill>
                <a:latin typeface="Microsoft YaHei"/>
              </a:defRPr>
            </a:pPr>
            <a:r>
              <a:t>网关转发、限流，并透传 requestId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15568" y="2679192"/>
            <a:ext cx="941832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2916936"/>
            <a:ext cx="502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916936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43846"/>
                </a:solidFill>
                <a:latin typeface="Microsoft YaHei"/>
              </a:defRPr>
            </a:pPr>
            <a:r>
              <a:t>内容入库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16936"/>
            <a:ext cx="7772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606E76"/>
                </a:solidFill>
                <a:latin typeface="Microsoft YaHei"/>
              </a:defRPr>
            </a:pPr>
            <a:r>
              <a:t>文章先以待审核状态保存，互动写入业务表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15568" y="3355848"/>
            <a:ext cx="941832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3593592"/>
            <a:ext cx="502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593592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43846"/>
                </a:solidFill>
                <a:latin typeface="Microsoft YaHei"/>
              </a:defRPr>
            </a:pPr>
            <a:r>
              <a:t>AI 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593592"/>
            <a:ext cx="7772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606E76"/>
                </a:solidFill>
                <a:latin typeface="Microsoft YaHei"/>
              </a:defRPr>
            </a:pPr>
            <a:r>
              <a:t>生成四项评分、标签、风险等级和处理决策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15568" y="4032504"/>
            <a:ext cx="941832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4270248"/>
            <a:ext cx="502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270248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43846"/>
                </a:solidFill>
                <a:latin typeface="Microsoft YaHei"/>
              </a:defRPr>
            </a:pPr>
            <a:r>
              <a:t>展示推荐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270248"/>
            <a:ext cx="7772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606E76"/>
                </a:solidFill>
                <a:latin typeface="Microsoft YaHei"/>
              </a:defRPr>
            </a:pPr>
            <a:r>
              <a:t>先判断能不能展示，再在候选池里排序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15568" y="4709160"/>
            <a:ext cx="941832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4946904"/>
            <a:ext cx="502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946904"/>
            <a:ext cx="1508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243846"/>
                </a:solidFill>
                <a:latin typeface="Microsoft YaHei"/>
              </a:defRPr>
            </a:pPr>
            <a:r>
              <a:t>回写追踪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946904"/>
            <a:ext cx="7772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606E76"/>
                </a:solidFill>
                <a:latin typeface="Microsoft YaHei"/>
              </a:defRPr>
            </a:pPr>
            <a:r>
              <a:t>用户行为写入推荐事件，关键操作写入审计日志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413248"/>
            <a:ext cx="9966960" cy="393192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一句话：先管住内容，再分发内容，最后留下证据。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服务划分：三层职责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六个服务不是平铺罗列，而是按访问路径分成前端、网关中间层和后端服务。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331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前端服务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2212848"/>
            <a:ext cx="233172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03320" y="182880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网关中间服务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2212848"/>
            <a:ext cx="274320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03720" y="1828800"/>
            <a:ext cx="3429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50" b="1">
                <a:solidFill>
                  <a:srgbClr val="15716E"/>
                </a:solidFill>
                <a:latin typeface="Microsoft YaHei"/>
              </a:defRPr>
            </a:pPr>
            <a:r>
              <a:t>后端服务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03720" y="2212848"/>
            <a:ext cx="342900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395728"/>
            <a:ext cx="25603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mofukaze</a:t>
            </a:r>
          </a:p>
          <a:p>
            <a:pPr>
              <a:spcBef>
                <a:spcPts val="400"/>
              </a:spcBef>
              <a:defRPr sz="1130">
                <a:solidFill>
                  <a:srgbClr val="606E76"/>
                </a:solidFill>
                <a:latin typeface="Microsoft YaHei"/>
              </a:defRPr>
            </a:pPr>
            <a:r>
              <a:t>Nuxt3 前端</a:t>
            </a:r>
          </a:p>
          <a:p>
            <a:pPr>
              <a:spcBef>
                <a:spcPts val="400"/>
              </a:spcBef>
              <a:defRPr sz="1130">
                <a:solidFill>
                  <a:srgbClr val="606E76"/>
                </a:solidFill>
                <a:latin typeface="Microsoft YaHei"/>
              </a:defRPr>
            </a:pPr>
            <a:r>
              <a:t>页面展示、发文、通知、私信与运维入口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95728"/>
            <a:ext cx="27432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api_gateway</a:t>
            </a:r>
          </a:p>
          <a:p>
            <a:pPr>
              <a:spcBef>
                <a:spcPts val="400"/>
              </a:spcBef>
              <a:defRPr sz="1110">
                <a:solidFill>
                  <a:srgbClr val="606E76"/>
                </a:solidFill>
                <a:latin typeface="Microsoft YaHei"/>
              </a:defRPr>
            </a:pPr>
            <a:r>
              <a:t>统一 API 入口</a:t>
            </a:r>
          </a:p>
          <a:p>
            <a:pPr>
              <a:spcBef>
                <a:spcPts val="400"/>
              </a:spcBef>
              <a:defRPr sz="1110">
                <a:solidFill>
                  <a:srgbClr val="606E76"/>
                </a:solidFill>
                <a:latin typeface="Microsoft YaHei"/>
              </a:defRPr>
            </a:pPr>
            <a:r>
              <a:t>路由转发、限流、requestId 透传</a:t>
            </a:r>
          </a:p>
          <a:p>
            <a:pPr>
              <a:spcBef>
                <a:spcPts val="400"/>
              </a:spcBef>
              <a:defRPr sz="1110">
                <a:solidFill>
                  <a:srgbClr val="606E76"/>
                </a:solidFill>
                <a:latin typeface="Microsoft YaHei"/>
              </a:defRPr>
            </a:pPr>
            <a:r>
              <a:t>WebSocket 代理与审计查询入口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395728"/>
            <a:ext cx="169164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user_service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注册登录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会话与角色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395728"/>
            <a:ext cx="196596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blog_service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内容互动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推荐与通知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959352"/>
            <a:ext cx="169164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ai_service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评分标签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风险与 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959352"/>
            <a:ext cx="1965960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chat_service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私信线程</a:t>
            </a:r>
          </a:p>
          <a:p>
            <a:pPr>
              <a:spcBef>
                <a:spcPts val="400"/>
              </a:spcBef>
              <a:defRPr sz="1070">
                <a:solidFill>
                  <a:srgbClr val="606E76"/>
                </a:solidFill>
                <a:latin typeface="Microsoft YaHei"/>
              </a:defRPr>
            </a:pPr>
            <a:r>
              <a:t>消息与 WebSocket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74720" y="1783080"/>
            <a:ext cx="0" cy="361188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75120" y="1783080"/>
            <a:ext cx="0" cy="361188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14400" y="5532120"/>
            <a:ext cx="9966960" cy="365760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defRPr sz="1450" b="1">
                <a:solidFill>
                  <a:srgbClr val="15716E"/>
                </a:solidFill>
                <a:latin typeface="Microsoft YaHei"/>
              </a:defRPr>
            </a:pPr>
            <a:r>
              <a:t>讲述重点：前端负责呈现，网关负责入口，后端服务按业务变化点拆分。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AI 治理：结构化结果落库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8680" y="1005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AI 调用不是为了得到一段回复，而是为了生成后续业务可使用的结构化字段。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28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触发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1828800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文章创建后，blog_service 调用 ai_service，文章先保持待审核。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871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构造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487168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真实 Provider 使用 messages 风格：system 约束 + user 任务 + 输出 schema + 标签库。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45536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4553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314553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Provider 层屏蔽 Mock 和真实模型差异，真实模型可按配置轮询。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03904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80390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规范化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3803904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解析 JSON，限制分数范围，校验标签必须来自预设标签库。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6227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716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4622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43846"/>
                </a:solidFill>
                <a:latin typeface="Microsoft YaHei"/>
              </a:defRPr>
            </a:pPr>
            <a:r>
              <a:t>落库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4462272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606E76"/>
                </a:solidFill>
                <a:latin typeface="Microsoft YaHei"/>
              </a:defRPr>
            </a:pPr>
            <a:r>
              <a:t>写入 article_ai_analysis、article_ai_tag_on_article，并更新文章状态。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321808"/>
            <a:ext cx="4800600" cy="438912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defRPr sz="1380" b="1">
                <a:solidFill>
                  <a:srgbClr val="15716E"/>
                </a:solidFill>
                <a:latin typeface="Microsoft YaHei"/>
              </a:defRPr>
            </a:pPr>
            <a:r>
              <a:t>失败策略：模型异常不放行，文章进入 REVIEW_REQUIRED。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5321808"/>
            <a:ext cx="4800600" cy="438912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defRPr sz="1380" b="1">
                <a:solidFill>
                  <a:srgbClr val="15716E"/>
                </a:solidFill>
                <a:latin typeface="Microsoft YaHei"/>
              </a:defRPr>
            </a:pPr>
            <a:r>
              <a:t>业务影响：展示控制、推荐排序、作者评分与通知。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推荐机制：公式与流程分开</a:t>
            </a:r>
            <a:endParaRPr lang="en-US" sz="2800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9966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先过滤可展示候选，再用可解释公式排序；推荐流读取已落库 AI 结果。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4709160" cy="1783080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defRPr sz="1560" b="1">
                <a:solidFill>
                  <a:srgbClr val="15716E"/>
                </a:solidFill>
                <a:latin typeface="Microsoft YaHei"/>
              </a:defRPr>
            </a:pPr>
            <a:r>
              <a:t>推荐总分 =</a:t>
            </a:r>
            <a:br/>
            <a:r>
              <a:t>tagMatch * 4 + authorAffinity * 2</a:t>
            </a:r>
            <a:br/>
            <a:r>
              <a:t>+ authorQuality * 1.2 + contentQuality + freshness</a:t>
            </a:r>
            <a:br/>
            <a:r>
              <a:t>- riskPenalty - seenPenalty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4709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60" b="0">
                <a:solidFill>
                  <a:srgbClr val="606E76"/>
                </a:solidFill>
                <a:latin typeface="Microsoft YaHei"/>
              </a:defRPr>
            </a:pPr>
            <a:r>
              <a:t>公式含义：兴趣匹配权重最高，但不会绕过质量、风险和重复曝光控制。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60020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5716E"/>
                </a:solidFill>
                <a:latin typeface="Microsoft YaHei"/>
              </a:defRPr>
            </a:pPr>
            <a:r>
              <a:t>推荐流程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1993392"/>
            <a:ext cx="4389120" cy="0"/>
          </a:xfrm>
          <a:prstGeom prst="line">
            <a:avLst/>
          </a:prstGeom>
          <a:ln w="1651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80760" y="2286000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5716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3846"/>
                </a:solidFill>
                <a:latin typeface="Microsoft YaHei"/>
              </a:defRPr>
            </a:pPr>
            <a:r>
              <a:t>候选过滤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28600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PUBLISHED / LOW_PRIORITY，且 legalityScore &gt;= 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944368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5716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44368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3846"/>
                </a:solidFill>
                <a:latin typeface="Microsoft YaHei"/>
              </a:defRPr>
            </a:pPr>
            <a:r>
              <a:t>读取信号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944368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用户画像、AI 标签、作者质量、14 天统计、已看记录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602735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5716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02735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3846"/>
                </a:solidFill>
                <a:latin typeface="Microsoft YaHei"/>
              </a:defRPr>
            </a:pPr>
            <a:r>
              <a:t>计算排序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602735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按公式得到 total score，分数相同按发布时间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261103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5716E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3"/>
            <a:ext cx="1234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43846"/>
                </a:solidFill>
                <a:latin typeface="Microsoft YaHei"/>
              </a:defRPr>
            </a:pPr>
            <a:r>
              <a:t>返回并记录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4261103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606E76"/>
                </a:solidFill>
                <a:latin typeface="Microsoft YaHei"/>
              </a:defRPr>
            </a:pPr>
            <a:r>
              <a:t>返回推荐列表，写 reco_request_log、曝光和 seen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30952"/>
            <a:ext cx="9966960" cy="411480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defRPr sz="1420" b="1">
                <a:solidFill>
                  <a:srgbClr val="15716E"/>
                </a:solidFill>
                <a:latin typeface="Microsoft YaHei"/>
              </a:defRPr>
            </a:pPr>
            <a:r>
              <a:t>关键边界：推荐请求日志是 reco_request_log，不等同于审计日志 audit_log。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画像反馈：行为改变下一次推荐</a:t>
            </a:r>
            <a:endParaRPr lang="en-US" altLang="zh-CN" sz="2100" b="1" dirty="0">
              <a:solidFill>
                <a:srgbClr val="24384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画像不是用户自己填写，而是由推荐事件持续计算出来。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5716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874519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43846"/>
                </a:solidFill>
                <a:latin typeface="Microsoft YaHei"/>
              </a:defRPr>
            </a:pPr>
            <a:r>
              <a:t>推荐展示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74519"/>
            <a:ext cx="7772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606E76"/>
                </a:solidFill>
                <a:latin typeface="Microsoft YaHei"/>
              </a:defRPr>
            </a:pPr>
            <a:r>
              <a:t>返回列表时自动写入曝光事件，并更新已看记录。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304287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551176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5716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5511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43846"/>
                </a:solidFill>
                <a:latin typeface="Microsoft YaHei"/>
              </a:defRPr>
            </a:pPr>
            <a:r>
              <a:t>用户行为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51176"/>
            <a:ext cx="7772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606E76"/>
                </a:solidFill>
                <a:latin typeface="Microsoft YaHei"/>
              </a:defRPr>
            </a:pPr>
            <a:r>
              <a:t>点击、停留、阅读完成、点赞、评论、隐藏、举报等形成反馈。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980944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227832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5716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227832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43846"/>
                </a:solidFill>
                <a:latin typeface="Microsoft YaHei"/>
              </a:defRPr>
            </a:pPr>
            <a:r>
              <a:t>事件入库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227832"/>
            <a:ext cx="7772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606E76"/>
                </a:solidFill>
                <a:latin typeface="Microsoft YaHei"/>
              </a:defRPr>
            </a:pPr>
            <a:r>
              <a:t>统一写入 reco_event，保留场景、位置、用户、文章和 requestId。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3657600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904488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5716E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90448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43846"/>
                </a:solidFill>
                <a:latin typeface="Microsoft YaHei"/>
              </a:defRPr>
            </a:pPr>
            <a:r>
              <a:t>画像刷新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904488"/>
            <a:ext cx="7772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606E76"/>
                </a:solidFill>
                <a:latin typeface="Microsoft YaHei"/>
              </a:defRPr>
            </a:pPr>
            <a:r>
              <a:t>最近 90 天、最多 500 条事件参与计算，旧行为按时间衰减。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4334256"/>
            <a:ext cx="996696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4581144"/>
            <a:ext cx="4754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5716E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58114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43846"/>
                </a:solidFill>
                <a:latin typeface="Microsoft YaHei"/>
              </a:defRPr>
            </a:pPr>
            <a:r>
              <a:t>影响排序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581144"/>
            <a:ext cx="7772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606E76"/>
                </a:solidFill>
                <a:latin typeface="Microsoft YaHei"/>
              </a:defRPr>
            </a:pPr>
            <a:r>
              <a:t>形成 tagVector 与 authorAffinity，参与下一次推荐打分。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766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15716E"/>
                </a:solidFill>
                <a:latin typeface="Microsoft YaHei"/>
              </a:defRPr>
            </a:pPr>
            <a:r>
              <a:t>正向行为提高相关标签和作者权重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37667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15716E"/>
                </a:solidFill>
                <a:latin typeface="Microsoft YaHei"/>
              </a:defRPr>
            </a:pPr>
            <a:r>
              <a:t>隐藏、举报降低相似内容权重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安全审计：从请求到证据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审计不是“日志很多”，而是关键行为能按请求链路追踪。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入口控制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网关限流与 requestId 透传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WebSocket 请求同样经过网关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783080"/>
            <a:ext cx="301752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业务校验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角色判断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文章、评论、聊天等资源归属校验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83080"/>
            <a:ext cx="2926080" cy="1234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15716E"/>
                </a:solidFill>
                <a:latin typeface="Microsoft YaHei"/>
              </a:defRPr>
            </a:pPr>
            <a:r>
              <a:t>证据保留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audit_log 记录主体、路径、动作、结果</a:t>
            </a:r>
          </a:p>
          <a:p>
            <a:pPr>
              <a:spcBef>
                <a:spcPts val="400"/>
              </a:spcBef>
              <a:defRPr sz="1180">
                <a:solidFill>
                  <a:srgbClr val="606E76"/>
                </a:solidFill>
                <a:latin typeface="Microsoft YaHei"/>
              </a:defRPr>
            </a:pPr>
            <a:r>
              <a:t>管理员运维页查询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3310128"/>
            <a:ext cx="9784080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749039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记录范围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749039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60" b="0">
                <a:solidFill>
                  <a:srgbClr val="606E76"/>
                </a:solidFill>
                <a:latin typeface="Microsoft YaHei"/>
              </a:defRPr>
            </a:pPr>
            <a:r>
              <a:t>登录、发文、删除、AI 分析、评论、关注、聊天、异常请求和管理员查询。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708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闭环方式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370832"/>
            <a:ext cx="8046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60" b="0">
                <a:solidFill>
                  <a:srgbClr val="606E76"/>
                </a:solidFill>
                <a:latin typeface="Microsoft YaHei"/>
              </a:defRPr>
            </a:pPr>
            <a:r>
              <a:t>requestId 定位请求，audit_log 保留行为证据，运维页提供查询入口。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349240"/>
            <a:ext cx="9966960" cy="384048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defRPr sz="1480" b="1">
                <a:solidFill>
                  <a:srgbClr val="15716E"/>
                </a:solidFill>
                <a:latin typeface="Microsoft YaHei"/>
              </a:defRPr>
            </a:pPr>
            <a:r>
              <a:t>一句话：网关负责入口，业务服务负责边界，数据库保留证据。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测试证据：闭环是否跑通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5716E"/>
                </a:solidFill>
                <a:latin typeface="Microsoft YaHei"/>
              </a:defRPr>
            </a:pPr>
            <a:r>
              <a:t>测试不只证明“能跑”，还证明问题被发现、修复并复验。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84 / 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综合黑盒测试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06E76"/>
                </a:solidFill>
                <a:latin typeface="Microsoft YaHei"/>
              </a:defRPr>
            </a:pPr>
            <a:r>
              <a:t>通过率 97.62%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737360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7 /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2140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定向复验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40487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06E76"/>
                </a:solidFill>
                <a:latin typeface="Microsoft YaHei"/>
              </a:defRPr>
            </a:pPr>
            <a:r>
              <a:t>缺陷闭环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737360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13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12140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推荐专项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40487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06E76"/>
                </a:solidFill>
                <a:latin typeface="Microsoft YaHei"/>
              </a:defRPr>
            </a:pPr>
            <a:r>
              <a:t>画像差异有效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737360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15716E"/>
                </a:solidFill>
                <a:latin typeface="Microsoft YaHei"/>
              </a:defRPr>
            </a:pPr>
            <a:r>
              <a:t>160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121408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606E76"/>
                </a:solidFill>
                <a:latin typeface="Microsoft YaHei"/>
              </a:defRPr>
            </a:pPr>
            <a:r>
              <a:t>推荐并发复验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40487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606E76"/>
                </a:solidFill>
                <a:latin typeface="Microsoft YaHei"/>
              </a:defRPr>
            </a:pPr>
            <a:r>
              <a:t>全 200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2907792"/>
            <a:ext cx="9784079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3273552"/>
            <a:ext cx="310896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80" b="1">
                <a:solidFill>
                  <a:srgbClr val="15716E"/>
                </a:solidFill>
                <a:latin typeface="Microsoft YaHei"/>
              </a:defRPr>
            </a:pPr>
            <a:r>
              <a:t>发现的问题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注册角色提权风险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WebSocket 网关转发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推荐并发写入冲突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0896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80" b="1">
                <a:solidFill>
                  <a:srgbClr val="15716E"/>
                </a:solidFill>
                <a:latin typeface="Microsoft YaHei"/>
              </a:defRPr>
            </a:pPr>
            <a:r>
              <a:t>推荐专项数据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3 类画像用户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36 作者 / 291 文章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1021 条推荐事件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273552"/>
            <a:ext cx="283464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80" b="1">
                <a:solidFill>
                  <a:srgbClr val="15716E"/>
                </a:solidFill>
                <a:latin typeface="Microsoft YaHei"/>
              </a:defRPr>
            </a:pPr>
            <a:r>
              <a:t>结论边界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验证原型闭环</a:t>
            </a:r>
          </a:p>
          <a:p>
            <a:pPr>
              <a:spcBef>
                <a:spcPts val="400"/>
              </a:spcBef>
              <a:defRPr sz="1140">
                <a:solidFill>
                  <a:srgbClr val="606E76"/>
                </a:solidFill>
                <a:latin typeface="Microsoft YaHei"/>
              </a:defRPr>
            </a:pPr>
            <a:r>
              <a:t>不夸大为生产容量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21808"/>
            <a:ext cx="9966960" cy="411480"/>
          </a:xfrm>
          <a:prstGeom prst="rect">
            <a:avLst/>
          </a:prstGeom>
          <a:solidFill>
            <a:srgbClr val="E4F7F3"/>
          </a:solidFill>
          <a:ln w="889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defRPr sz="1450" b="1">
                <a:solidFill>
                  <a:srgbClr val="15716E"/>
                </a:solidFill>
                <a:latin typeface="Microsoft YaHei"/>
              </a:defRPr>
            </a:pPr>
            <a:r>
              <a:t>Mock Provider 保证系统测试可重复；真实模型接入能力另做补充验证。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2100" b="1">
                <a:solidFill>
                  <a:srgbClr val="243846"/>
                </a:solidFill>
                <a:latin typeface="Microsoft YaHei"/>
              </a:defRPr>
            </a:pPr>
            <a:r>
              <a:t>总结与致谢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14400" y="1024128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15716E"/>
                </a:solidFill>
                <a:latin typeface="Microsoft YaHei"/>
              </a:defRPr>
            </a:pPr>
            <a:r>
              <a:t>完成的是一个可运行、可追踪、可解释的社交平台原型。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627632"/>
            <a:ext cx="9966960" cy="0"/>
          </a:xfrm>
          <a:prstGeom prst="line">
            <a:avLst/>
          </a:prstGeom>
          <a:ln w="17780">
            <a:solidFill>
              <a:srgbClr val="1571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05840" y="214884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微服务架构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148840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606E76"/>
                </a:solidFill>
                <a:latin typeface="Microsoft YaHei"/>
              </a:defRPr>
            </a:pPr>
            <a:r>
              <a:t>前端、网关、用户、内容、AI、聊天按职责拆分。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1576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内容治理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715768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606E76"/>
                </a:solidFill>
                <a:latin typeface="Microsoft YaHei"/>
              </a:defRPr>
            </a:pPr>
            <a:r>
              <a:t>文章发布后通过 AI 评分、标签和风险决策控制展示状态。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82696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推荐闭环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282696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606E76"/>
                </a:solidFill>
                <a:latin typeface="Microsoft YaHei"/>
              </a:defRPr>
            </a:pPr>
            <a:r>
              <a:t>画像、推荐事件、排序公式和回写记录形成可解释推荐流程。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4962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审计闭环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849624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606E76"/>
                </a:solidFill>
                <a:latin typeface="Microsoft YaHei"/>
              </a:defRPr>
            </a:pPr>
            <a:r>
              <a:t>requestId、audit_log 和运维页支撑关键行为追踪。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3659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15716E"/>
                </a:solidFill>
                <a:latin typeface="Microsoft YaHei"/>
              </a:defRPr>
            </a:pPr>
            <a:r>
              <a:t>后续优化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736592"/>
            <a:ext cx="79552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606E76"/>
                </a:solidFill>
                <a:latin typeface="Microsoft YaHei"/>
              </a:defRPr>
            </a:pPr>
            <a:r>
              <a:t>性能优化、单元测试、人工复核和长期推荐效果评估。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30952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15716E"/>
                </a:solidFill>
                <a:latin typeface="Microsoft YaHei"/>
              </a:defRPr>
            </a:pPr>
            <a:r>
              <a:t>谢谢各位老师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</TotalTime>
  <Words>519</Words>
  <Application>Microsoft Office PowerPoint</Application>
  <PresentationFormat>宽屏</PresentationFormat>
  <Paragraphs>221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宋体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基于微服务的社交平台的设计与实现</dc:title>
  <dc:subject>毕业设计答辩</dc:subject>
  <dc:creator>Administrator</dc:creator>
  <cp:lastModifiedBy>08 miniz</cp:lastModifiedBy>
  <cp:revision>10</cp:revision>
  <dcterms:created xsi:type="dcterms:W3CDTF">2026-05-25T12:38:25Z</dcterms:created>
  <dcterms:modified xsi:type="dcterms:W3CDTF">2026-06-04T02:54:51Z</dcterms:modified>
</cp:coreProperties>
</file>