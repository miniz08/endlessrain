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59" r:id="rId5"/>
    <p:sldId id="261" r:id="rId6"/>
    <p:sldId id="264" r:id="rId7"/>
    <p:sldId id="266" r:id="rId8"/>
    <p:sldId id="265" r:id="rId9"/>
    <p:sldId id="267" r:id="rId10"/>
    <p:sldId id="268" r:id="rId11"/>
    <p:sldId id="269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658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5B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毕业设计答辩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9601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的设计与实现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777240" y="2971800"/>
            <a:ext cx="3657600" cy="0"/>
          </a:xfrm>
          <a:prstGeom prst="line">
            <a:avLst/>
          </a:prstGeom>
          <a:noFill/>
          <a:ln w="254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04672" y="495604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 err="1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</a:t>
            </a:r>
            <a:r>
              <a:rPr lang="en-US" sz="170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    </a:t>
            </a:r>
            <a:r>
              <a:rPr 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学号</a:t>
            </a:r>
            <a:r>
              <a:rPr lang="en-US" sz="170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：221404060413</a:t>
            </a:r>
            <a:endParaRPr lang="en-US" sz="1700" dirty="0"/>
          </a:p>
          <a:p>
            <a:pPr marL="0" indent="0">
              <a:buNone/>
            </a:pPr>
            <a:r>
              <a:rPr lang="en-US" sz="1700" dirty="0" err="1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</a:t>
            </a:r>
            <a:r>
              <a:rPr 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zh-CN" alt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计算机科学与技术</a:t>
            </a:r>
            <a:r>
              <a:rPr 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r>
              <a:rPr lang="en-US" sz="1700" dirty="0" err="1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</a:t>
            </a:r>
            <a:r>
              <a:rPr 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zh-CN" alt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张蕾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4672" y="608076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HENAN UNIVERSITY OF SCIENCE &amp; TECHNOLOGY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研究背景与课题目标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03504" y="96012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18470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45B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61.56%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1920240" cy="438912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用户日常获取信息渠道中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社交平台占比较高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017520" y="336990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5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高频化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017520" y="4065689"/>
            <a:ext cx="2194560" cy="438912"/>
          </a:xfrm>
          <a:prstGeom prst="roundRect">
            <a:avLst/>
          </a:prstGeom>
          <a:solidFill>
            <a:srgbClr val="FFF0F0"/>
          </a:solidFill>
          <a:ln>
            <a:solidFill>
              <a:srgbClr val="FFF0F0"/>
            </a:solidFill>
          </a:ln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网站系统持续面临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自动化攻击与风险扫描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818120" y="1600200"/>
            <a:ext cx="0" cy="324612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275320" y="1499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5B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课题目标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75320" y="2029967"/>
            <a:ext cx="3200400" cy="247463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85000" lnSpcReduction="10000"/>
          </a:bodyPr>
          <a:lstStyle/>
          <a:p>
            <a:r>
              <a:rPr lang="en-US" sz="17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实现一个基于微服务的社交平台原型
</a:t>
            </a:r>
            <a:endParaRPr lang="en-US" sz="1750" dirty="0"/>
          </a:p>
          <a:p>
            <a:r>
              <a:rPr lang="en-US" sz="17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AI 分析嵌入内容发布后的治理流程
</a:t>
            </a:r>
            <a:endParaRPr lang="en-US" sz="1750" dirty="0"/>
          </a:p>
          <a:p>
            <a:r>
              <a:rPr lang="en-US" sz="17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将用户行为、内容质量与推荐展示关联起来
</a:t>
            </a:r>
            <a:endParaRPr lang="en-US" sz="1750" dirty="0"/>
          </a:p>
          <a:p>
            <a:r>
              <a:rPr lang="en-US" sz="1750" dirty="0" err="1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requestId 与审计日志保留关键请求与异常线索</a:t>
            </a:r>
            <a:endParaRPr lang="en-US" sz="1750" dirty="0">
              <a:solidFill>
                <a:srgbClr val="172033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endParaRPr lang="en-US" sz="1750" dirty="0">
              <a:solidFill>
                <a:srgbClr val="172033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zh-CN" altLang="en-US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</a:rPr>
              <a:t>形成可追踪的内容治理闭环</a:t>
            </a:r>
            <a:endParaRPr lang="en-US" dirty="0">
              <a:solidFill>
                <a:srgbClr val="172033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8465ECE5-815A-D3EF-06AF-8174411BE4BB}"/>
              </a:ext>
            </a:extLst>
          </p:cNvPr>
          <p:cNvSpPr/>
          <p:nvPr/>
        </p:nvSpPr>
        <p:spPr>
          <a:xfrm>
            <a:off x="3177540" y="182659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AIGC</a:t>
            </a:r>
            <a:endParaRPr lang="en-US" sz="3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A62B512C-771F-E2C1-0139-9C480C6808E8}"/>
              </a:ext>
            </a:extLst>
          </p:cNvPr>
          <p:cNvSpPr/>
          <p:nvPr/>
        </p:nvSpPr>
        <p:spPr>
          <a:xfrm>
            <a:off x="3177540" y="2395728"/>
            <a:ext cx="1920240" cy="43891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EAF2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>
              <a:defRPr sz="1150" b="0">
                <a:solidFill>
                  <a:srgbClr val="606E76"/>
                </a:solidFill>
                <a:latin typeface="Microsoft YaHei"/>
              </a:defRPr>
            </a:pPr>
            <a:r>
              <a:t>生成式 AI 已降低</a:t>
            </a:r>
            <a:endParaRPr lang="en-US" sz="1350" dirty="0">
              <a:solidFill>
                <a:srgbClr val="506070"/>
              </a:solidFill>
              <a:latin typeface="Microsoft YaHei" pitchFamily="34" charset="0"/>
              <a:ea typeface="Microsoft YaHei" pitchFamily="34" charset="-122"/>
            </a:endParaRPr>
          </a:p>
          <a:p>
            <a:pPr algn="ctr">
              <a:defRPr sz="1150" b="0">
                <a:solidFill>
                  <a:srgbClr val="606E76"/>
                </a:solidFill>
                <a:latin typeface="Microsoft YaHei"/>
              </a:defRPr>
            </a:pPr>
            <a:r>
              <a:t>内容生产门槛</a:t>
            </a:r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95EA1B8B-4986-91A7-5622-F5A784B0B3DF}"/>
              </a:ext>
            </a:extLst>
          </p:cNvPr>
          <p:cNvSpPr/>
          <p:nvPr/>
        </p:nvSpPr>
        <p:spPr>
          <a:xfrm>
            <a:off x="5440680" y="186309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zh-CN" sz="3000" b="1" dirty="0">
                <a:solidFill>
                  <a:srgbClr val="245B9E"/>
                </a:solidFill>
                <a:latin typeface="Microsoft YaHei" pitchFamily="34" charset="0"/>
                <a:ea typeface="Microsoft YaHei" pitchFamily="34" charset="-122"/>
              </a:rPr>
              <a:t>内容治理</a:t>
            </a:r>
            <a:endParaRPr lang="en-US" sz="3000" b="1" dirty="0">
              <a:solidFill>
                <a:srgbClr val="245B9E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DED22872-7277-3BDA-D028-CFBE39F14673}"/>
              </a:ext>
            </a:extLst>
          </p:cNvPr>
          <p:cNvSpPr/>
          <p:nvPr/>
        </p:nvSpPr>
        <p:spPr>
          <a:xfrm>
            <a:off x="5440680" y="2396412"/>
            <a:ext cx="1920240" cy="438912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  <a:defRPr sz="1150" b="0">
                <a:solidFill>
                  <a:srgbClr val="606E76"/>
                </a:solidFill>
                <a:latin typeface="Microsoft YaHei"/>
              </a:defRPr>
            </a:pPr>
            <a:r>
              <a:t>内容风险</a:t>
            </a:r>
            <a:endParaRPr lang="en-US" sz="1350" dirty="0"/>
          </a:p>
          <a:p>
            <a:pPr algn="ctr">
              <a:defRPr sz="1150" b="0">
                <a:solidFill>
                  <a:srgbClr val="606E76"/>
                </a:solidFill>
                <a:latin typeface="Microsoft YaHei"/>
              </a:defRPr>
            </a:pPr>
            <a:r>
              <a:t>虚假、低质与垃圾内容增加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100" b="1">
                <a:solidFill>
                  <a:srgbClr val="243846"/>
                </a:solidFill>
                <a:latin typeface="Microsoft YaHei"/>
              </a:rPr>
              <a:t>总体架构设计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ounded Rectangle 6"/>
          <p:cNvSpPr/>
          <p:nvPr/>
        </p:nvSpPr>
        <p:spPr>
          <a:xfrm>
            <a:off x="960120" y="1499616"/>
            <a:ext cx="1874519" cy="320040"/>
          </a:xfrm>
          <a:prstGeom prst="roundRect">
            <a:avLst/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15716E"/>
                </a:solidFill>
                <a:latin typeface="Microsoft YaHei"/>
              </a:rPr>
              <a:t>客户端访问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54096" y="1499616"/>
            <a:ext cx="1965960" cy="320040"/>
          </a:xfrm>
          <a:prstGeom prst="roundRect">
            <a:avLst/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15716E"/>
                </a:solidFill>
                <a:latin typeface="Microsoft YaHei"/>
              </a:rPr>
              <a:t>前端容器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0096" y="1499616"/>
            <a:ext cx="2331720" cy="320040"/>
          </a:xfrm>
          <a:prstGeom prst="roundRect">
            <a:avLst/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15716E"/>
                </a:solidFill>
                <a:latin typeface="Microsoft YaHei"/>
              </a:rPr>
              <a:t>统一入口容器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389888"/>
            <a:ext cx="2331720" cy="320040"/>
          </a:xfrm>
          <a:prstGeom prst="roundRect">
            <a:avLst/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15716E"/>
                </a:solidFill>
                <a:latin typeface="Microsoft YaHei"/>
              </a:rPr>
              <a:t>业务服务容器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011680"/>
            <a:ext cx="1965960" cy="987552"/>
          </a:xfrm>
          <a:prstGeom prst="roundRect">
            <a:avLst/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ctr"/>
            <a:r>
              <a:rPr sz="1500" b="1">
                <a:solidFill>
                  <a:srgbClr val="15716E"/>
                </a:solidFill>
                <a:latin typeface="Microsoft YaHei"/>
              </a:rPr>
              <a:t>浏览器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30" b="0">
                <a:solidFill>
                  <a:srgbClr val="243846"/>
                </a:solidFill>
                <a:latin typeface="Microsoft YaHei"/>
              </a:rPr>
              <a:t>用户访问页面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30" b="0">
                <a:solidFill>
                  <a:srgbClr val="243846"/>
                </a:solidFill>
                <a:latin typeface="Microsoft YaHei"/>
              </a:rPr>
              <a:t>提交业务请求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2011680"/>
            <a:ext cx="1965960" cy="987552"/>
          </a:xfrm>
          <a:prstGeom prst="roundRect">
            <a:avLst/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ctr"/>
            <a:r>
              <a:rPr sz="1500" b="1">
                <a:solidFill>
                  <a:srgbClr val="15716E"/>
                </a:solidFill>
                <a:latin typeface="Microsoft YaHei"/>
              </a:rPr>
              <a:t>mofukaze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30" b="0">
                <a:solidFill>
                  <a:srgbClr val="243846"/>
                </a:solidFill>
                <a:latin typeface="Microsoft YaHei"/>
              </a:rPr>
              <a:t>Nuxt3 前端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30" b="0">
                <a:solidFill>
                  <a:srgbClr val="243846"/>
                </a:solidFill>
                <a:latin typeface="Microsoft YaHei"/>
              </a:rPr>
              <a:t>页面展示与交互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883664"/>
            <a:ext cx="2331720" cy="1243584"/>
          </a:xfrm>
          <a:prstGeom prst="roundRect">
            <a:avLst/>
          </a:prstGeom>
          <a:solidFill>
            <a:srgbClr val="F0FAF8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ctr"/>
            <a:r>
              <a:rPr sz="1500" b="1">
                <a:solidFill>
                  <a:srgbClr val="15716E"/>
                </a:solidFill>
                <a:latin typeface="Microsoft YaHei"/>
              </a:rPr>
              <a:t>api_gateway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00" b="0">
                <a:solidFill>
                  <a:srgbClr val="243846"/>
                </a:solidFill>
                <a:latin typeface="Microsoft YaHei"/>
              </a:rPr>
              <a:t>路由转发 / 限流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00" b="0">
                <a:solidFill>
                  <a:srgbClr val="243846"/>
                </a:solidFill>
                <a:latin typeface="Microsoft YaHei"/>
              </a:rPr>
              <a:t>requestId 透传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00" b="0">
                <a:solidFill>
                  <a:srgbClr val="243846"/>
                </a:solidFill>
                <a:latin typeface="Microsoft YaHei"/>
              </a:rPr>
              <a:t>审计查询入口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89920" y="2487168"/>
            <a:ext cx="1234440" cy="1280160"/>
          </a:xfrm>
          <a:prstGeom prst="roundRect">
            <a:avLst/>
          </a:prstGeom>
          <a:solidFill>
            <a:srgbClr val="F0FAF8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ctr"/>
            <a:r>
              <a:rPr sz="1220" b="1">
                <a:solidFill>
                  <a:srgbClr val="15716E"/>
                </a:solidFill>
                <a:latin typeface="Microsoft YaHei"/>
              </a:rPr>
              <a:t>MySQL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950" b="0">
                <a:solidFill>
                  <a:srgbClr val="243846"/>
                </a:solidFill>
                <a:latin typeface="Microsoft YaHei"/>
              </a:rPr>
              <a:t>5.7.44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950" b="0">
                <a:solidFill>
                  <a:srgbClr val="243846"/>
                </a:solidFill>
                <a:latin typeface="Microsoft YaHei"/>
              </a:rPr>
              <a:t>longseason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43200" y="2505456"/>
            <a:ext cx="228600" cy="0"/>
          </a:xfrm>
          <a:prstGeom prst="line">
            <a:avLst/>
          </a:prstGeom>
          <a:ln w="1651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37760" y="2505456"/>
            <a:ext cx="365760" cy="0"/>
          </a:xfrm>
          <a:prstGeom prst="line">
            <a:avLst/>
          </a:prstGeom>
          <a:ln w="1651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35240" y="2505456"/>
            <a:ext cx="640080" cy="0"/>
          </a:xfrm>
          <a:prstGeom prst="line">
            <a:avLst/>
          </a:prstGeom>
          <a:ln w="1651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0120" y="4709160"/>
            <a:ext cx="10287000" cy="731520"/>
          </a:xfrm>
          <a:prstGeom prst="roundRect">
            <a:avLst/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>
            <a:normAutofit/>
          </a:bodyPr>
          <a:lstStyle/>
          <a:p>
            <a:pPr algn="ctr"/>
            <a:r>
              <a:rPr sz="1420" b="1">
                <a:solidFill>
                  <a:srgbClr val="243846"/>
                </a:solidFill>
                <a:latin typeface="Microsoft YaHei"/>
              </a:rPr>
              <a:t>Docker 运行分离：每个服务构建为独立镜像与容器；Docker 内部网络通过服务名通信；对外统一通过网关入口访问。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rPr dirty="0" err="1"/>
              <a:t>设计主线：从发文到追踪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ounded Rectangle 6"/>
          <p:cNvSpPr/>
          <p:nvPr/>
        </p:nvSpPr>
        <p:spPr>
          <a:xfrm>
            <a:off x="713232" y="1828800"/>
            <a:ext cx="3090672" cy="1261872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defRPr sz="1750" b="1">
                <a:solidFill>
                  <a:srgbClr val="15716E"/>
                </a:solidFill>
                <a:latin typeface="Microsoft YaHei"/>
              </a:defRPr>
            </a:pPr>
            <a:r>
              <a:t>01  统一入口</a:t>
            </a:r>
          </a:p>
          <a:p>
            <a:pPr algn="l">
              <a:spcBef>
                <a:spcPts val="400"/>
              </a:spcBef>
              <a:defRPr sz="1250" b="0">
                <a:solidFill>
                  <a:srgbClr val="606E76"/>
                </a:solidFill>
                <a:latin typeface="Microsoft YaHei"/>
              </a:defRPr>
            </a:pPr>
            <a:r>
              <a:t>网关转发</a:t>
            </a:r>
          </a:p>
          <a:p>
            <a:pPr algn="l">
              <a:spcBef>
                <a:spcPts val="400"/>
              </a:spcBef>
              <a:defRPr sz="1250" b="0">
                <a:solidFill>
                  <a:srgbClr val="606E76"/>
                </a:solidFill>
                <a:latin typeface="Microsoft YaHei"/>
              </a:defRPr>
            </a:pPr>
            <a:r>
              <a:t>限流与 requestId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828800"/>
            <a:ext cx="3090672" cy="1261872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defRPr sz="1750" b="1">
                <a:solidFill>
                  <a:srgbClr val="15716E"/>
                </a:solidFill>
                <a:latin typeface="Microsoft YaHei"/>
              </a:defRPr>
            </a:pPr>
            <a:r>
              <a:t>02  内容入库</a:t>
            </a:r>
          </a:p>
          <a:p>
            <a:pPr algn="l">
              <a:spcBef>
                <a:spcPts val="400"/>
              </a:spcBef>
              <a:defRPr sz="1250" b="0">
                <a:solidFill>
                  <a:srgbClr val="606E76"/>
                </a:solidFill>
                <a:latin typeface="Microsoft YaHei"/>
              </a:defRPr>
            </a:pPr>
            <a:r>
              <a:t>文章先待审核</a:t>
            </a:r>
          </a:p>
          <a:p>
            <a:pPr algn="l">
              <a:spcBef>
                <a:spcPts val="400"/>
              </a:spcBef>
              <a:defRPr sz="1250" b="0">
                <a:solidFill>
                  <a:srgbClr val="606E76"/>
                </a:solidFill>
                <a:latin typeface="Microsoft YaHei"/>
              </a:defRPr>
            </a:pPr>
            <a:r>
              <a:t>互动写业务表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18704" y="1828800"/>
            <a:ext cx="3090672" cy="1261872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defRPr sz="1750" b="1">
                <a:solidFill>
                  <a:srgbClr val="15716E"/>
                </a:solidFill>
                <a:latin typeface="Microsoft YaHei"/>
              </a:defRPr>
            </a:pPr>
            <a:r>
              <a:t>03  AI 治理</a:t>
            </a:r>
          </a:p>
          <a:p>
            <a:pPr algn="l">
              <a:spcBef>
                <a:spcPts val="400"/>
              </a:spcBef>
              <a:defRPr sz="1250" b="0">
                <a:solidFill>
                  <a:srgbClr val="606E76"/>
                </a:solidFill>
                <a:latin typeface="Microsoft YaHei"/>
              </a:defRPr>
            </a:pPr>
            <a:r>
              <a:t>四项评分</a:t>
            </a:r>
          </a:p>
          <a:p>
            <a:pPr algn="l">
              <a:spcBef>
                <a:spcPts val="400"/>
              </a:spcBef>
              <a:defRPr sz="1250" b="0">
                <a:solidFill>
                  <a:srgbClr val="606E76"/>
                </a:solidFill>
                <a:latin typeface="Microsoft YaHei"/>
              </a:defRPr>
            </a:pPr>
            <a:r>
              <a:t>标签 / 风险 / 决策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730752"/>
            <a:ext cx="3090672" cy="1261872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defRPr sz="1750" b="1">
                <a:solidFill>
                  <a:srgbClr val="15716E"/>
                </a:solidFill>
                <a:latin typeface="Microsoft YaHei"/>
              </a:defRPr>
            </a:pPr>
            <a:r>
              <a:t>04  展示控制</a:t>
            </a:r>
          </a:p>
          <a:p>
            <a:pPr algn="l">
              <a:spcBef>
                <a:spcPts val="400"/>
              </a:spcBef>
              <a:defRPr sz="1250" b="0">
                <a:solidFill>
                  <a:srgbClr val="606E76"/>
                </a:solidFill>
                <a:latin typeface="Microsoft YaHei"/>
              </a:defRPr>
            </a:pPr>
            <a:r>
              <a:t>先判断能不能看</a:t>
            </a:r>
          </a:p>
          <a:p>
            <a:pPr algn="l">
              <a:spcBef>
                <a:spcPts val="400"/>
              </a:spcBef>
              <a:defRPr sz="1250" b="0">
                <a:solidFill>
                  <a:srgbClr val="606E76"/>
                </a:solidFill>
                <a:latin typeface="Microsoft YaHei"/>
              </a:defRPr>
            </a:pPr>
            <a:r>
              <a:t>再决定排第几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3730752"/>
            <a:ext cx="3090672" cy="1261872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defRPr sz="1750" b="1">
                <a:solidFill>
                  <a:srgbClr val="15716E"/>
                </a:solidFill>
                <a:latin typeface="Microsoft YaHei"/>
              </a:defRPr>
            </a:pPr>
            <a:r>
              <a:t>05  推荐排序</a:t>
            </a:r>
          </a:p>
          <a:p>
            <a:pPr algn="l">
              <a:spcBef>
                <a:spcPts val="400"/>
              </a:spcBef>
              <a:defRPr sz="1250" b="0">
                <a:solidFill>
                  <a:srgbClr val="606E76"/>
                </a:solidFill>
                <a:latin typeface="Microsoft YaHei"/>
              </a:defRPr>
            </a:pPr>
            <a:r>
              <a:t>画像 + 质量 + 新鲜度</a:t>
            </a:r>
          </a:p>
          <a:p>
            <a:pPr algn="l">
              <a:spcBef>
                <a:spcPts val="400"/>
              </a:spcBef>
              <a:defRPr sz="1250" b="0">
                <a:solidFill>
                  <a:srgbClr val="606E76"/>
                </a:solidFill>
                <a:latin typeface="Microsoft YaHei"/>
              </a:defRPr>
            </a:pPr>
            <a:r>
              <a:t>风险与已看惩罚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18704" y="3730752"/>
            <a:ext cx="3090672" cy="1261872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defRPr sz="1750" b="1">
                <a:solidFill>
                  <a:srgbClr val="15716E"/>
                </a:solidFill>
                <a:latin typeface="Microsoft YaHei"/>
              </a:defRPr>
            </a:pPr>
            <a:r>
              <a:t>06  回写追踪</a:t>
            </a:r>
          </a:p>
          <a:p>
            <a:pPr algn="l">
              <a:spcBef>
                <a:spcPts val="400"/>
              </a:spcBef>
              <a:defRPr sz="1250" b="0">
                <a:solidFill>
                  <a:srgbClr val="606E76"/>
                </a:solidFill>
                <a:latin typeface="Microsoft YaHei"/>
              </a:defRPr>
            </a:pPr>
            <a:r>
              <a:t>推荐事件</a:t>
            </a:r>
          </a:p>
          <a:p>
            <a:pPr algn="l">
              <a:spcBef>
                <a:spcPts val="400"/>
              </a:spcBef>
              <a:defRPr sz="1250" b="0">
                <a:solidFill>
                  <a:srgbClr val="606E76"/>
                </a:solidFill>
                <a:latin typeface="Microsoft YaHei"/>
              </a:defRPr>
            </a:pPr>
            <a:r>
              <a:t>审计日志与复现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rPr dirty="0" err="1"/>
              <a:t>服务拆分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ounded Rectangle 6"/>
          <p:cNvSpPr/>
          <p:nvPr/>
        </p:nvSpPr>
        <p:spPr>
          <a:xfrm>
            <a:off x="713232" y="1810512"/>
            <a:ext cx="3090672" cy="1261872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defRPr sz="1720" b="1">
                <a:solidFill>
                  <a:srgbClr val="15716E"/>
                </a:solidFill>
                <a:latin typeface="Microsoft YaHei"/>
              </a:defRPr>
            </a:pPr>
            <a:r>
              <a:t>mofukaze</a:t>
            </a:r>
          </a:p>
          <a:p>
            <a:pPr algn="l">
              <a:spcBef>
                <a:spcPts val="400"/>
              </a:spcBef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Nuxt3 前端</a:t>
            </a:r>
          </a:p>
          <a:p>
            <a:pPr algn="l">
              <a:spcBef>
                <a:spcPts val="400"/>
              </a:spcBef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页面展示与交互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810512"/>
            <a:ext cx="3090672" cy="1261872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defRPr sz="1720" b="1">
                <a:solidFill>
                  <a:srgbClr val="15716E"/>
                </a:solidFill>
                <a:latin typeface="Microsoft YaHei"/>
              </a:defRPr>
            </a:pPr>
            <a:r>
              <a:t>api_gateway</a:t>
            </a:r>
          </a:p>
          <a:p>
            <a:pPr algn="l">
              <a:spcBef>
                <a:spcPts val="400"/>
              </a:spcBef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统一 API 入口</a:t>
            </a:r>
          </a:p>
          <a:p>
            <a:pPr algn="l">
              <a:spcBef>
                <a:spcPts val="400"/>
              </a:spcBef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转发、限流、requestId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18704" y="1810512"/>
            <a:ext cx="3090672" cy="1261872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defRPr sz="1720" b="1">
                <a:solidFill>
                  <a:srgbClr val="15716E"/>
                </a:solidFill>
                <a:latin typeface="Microsoft YaHei"/>
              </a:defRPr>
            </a:pPr>
            <a:r>
              <a:t>user_service</a:t>
            </a:r>
          </a:p>
          <a:p>
            <a:pPr algn="l">
              <a:spcBef>
                <a:spcPts val="400"/>
              </a:spcBef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认证与用户资料</a:t>
            </a:r>
          </a:p>
          <a:p>
            <a:pPr algn="l">
              <a:spcBef>
                <a:spcPts val="400"/>
              </a:spcBef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登录、会话、角色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456432"/>
            <a:ext cx="3090672" cy="1261872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defRPr sz="1720" b="1">
                <a:solidFill>
                  <a:srgbClr val="15716E"/>
                </a:solidFill>
                <a:latin typeface="Microsoft YaHei"/>
              </a:defRPr>
            </a:pPr>
            <a:r>
              <a:t>blog_service</a:t>
            </a:r>
          </a:p>
          <a:p>
            <a:pPr algn="l">
              <a:spcBef>
                <a:spcPts val="400"/>
              </a:spcBef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核心业务服务</a:t>
            </a:r>
          </a:p>
          <a:p>
            <a:pPr algn="l">
              <a:spcBef>
                <a:spcPts val="400"/>
              </a:spcBef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内容、互动、推荐、通知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3456432"/>
            <a:ext cx="3090672" cy="1261872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defRPr sz="1720" b="1">
                <a:solidFill>
                  <a:srgbClr val="15716E"/>
                </a:solidFill>
                <a:latin typeface="Microsoft YaHei"/>
              </a:defRPr>
            </a:pPr>
            <a:r>
              <a:t>ai_service</a:t>
            </a:r>
          </a:p>
          <a:p>
            <a:pPr algn="l">
              <a:spcBef>
                <a:spcPts val="400"/>
              </a:spcBef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AI 分析服务</a:t>
            </a:r>
          </a:p>
          <a:p>
            <a:pPr algn="l">
              <a:spcBef>
                <a:spcPts val="400"/>
              </a:spcBef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评分、标签、风险、Provider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18704" y="3456432"/>
            <a:ext cx="3090672" cy="1261872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defRPr sz="1720" b="1">
                <a:solidFill>
                  <a:srgbClr val="15716E"/>
                </a:solidFill>
                <a:latin typeface="Microsoft YaHei"/>
              </a:defRPr>
            </a:pPr>
            <a:r>
              <a:t>chat_service</a:t>
            </a:r>
          </a:p>
          <a:p>
            <a:pPr algn="l">
              <a:spcBef>
                <a:spcPts val="400"/>
              </a:spcBef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私信服务</a:t>
            </a:r>
          </a:p>
          <a:p>
            <a:pPr algn="l">
              <a:spcBef>
                <a:spcPts val="400"/>
              </a:spcBef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线程、消息、WebSocket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5166360"/>
            <a:ext cx="2926080" cy="658368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2400" b="1">
                <a:solidFill>
                  <a:srgbClr val="15716E"/>
                </a:solidFill>
                <a:latin typeface="Microsoft YaHei"/>
              </a:defRPr>
            </a:pPr>
            <a:r>
              <a:t>6 个服务</a:t>
            </a:r>
          </a:p>
          <a:p>
            <a:pPr algn="ctr">
              <a:defRPr sz="1250">
                <a:solidFill>
                  <a:srgbClr val="606E76"/>
                </a:solidFill>
                <a:latin typeface="Microsoft YaHei"/>
              </a:defRPr>
            </a:pPr>
            <a:r>
              <a:t>独立镜像与容器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5166360"/>
            <a:ext cx="2926080" cy="658368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2400" b="1">
                <a:solidFill>
                  <a:srgbClr val="15716E"/>
                </a:solidFill>
                <a:latin typeface="Microsoft YaHei"/>
              </a:defRPr>
            </a:pPr>
            <a:r>
              <a:t>约 21 张表</a:t>
            </a:r>
          </a:p>
          <a:p>
            <a:pPr algn="ctr">
              <a:defRPr sz="1250">
                <a:solidFill>
                  <a:srgbClr val="606E76"/>
                </a:solidFill>
                <a:latin typeface="Microsoft YaHei"/>
              </a:defRPr>
            </a:pPr>
            <a:r>
              <a:t>支撑业务闭环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rPr dirty="0"/>
              <a:t>AI </a:t>
            </a:r>
            <a:r>
              <a:rPr dirty="0" err="1"/>
              <a:t>治理：调用不是终点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2176272" cy="1508760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ctr"/>
          <a:lstStyle/>
          <a:p>
            <a:pPr algn="ctr">
              <a:defRPr sz="1800" b="1">
                <a:solidFill>
                  <a:srgbClr val="15716E"/>
                </a:solidFill>
                <a:latin typeface="Microsoft YaHei"/>
              </a:defRPr>
            </a:pPr>
            <a:r>
              <a:t>触发</a:t>
            </a:r>
          </a:p>
          <a:p>
            <a:pPr algn="ctr">
              <a:spcBef>
                <a:spcPts val="400"/>
              </a:spcBef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发文后调用</a:t>
            </a:r>
          </a:p>
          <a:p>
            <a:pPr algn="ctr">
              <a:spcBef>
                <a:spcPts val="400"/>
              </a:spcBef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blog_service -&gt; ai_service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71800" y="2633472"/>
            <a:ext cx="356616" cy="0"/>
          </a:xfrm>
          <a:prstGeom prst="line">
            <a:avLst/>
          </a:prstGeom>
          <a:ln w="1778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01568" y="1874519"/>
            <a:ext cx="2176272" cy="1508760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ctr"/>
          <a:lstStyle/>
          <a:p>
            <a:pPr algn="ctr">
              <a:defRPr sz="1800" b="1">
                <a:solidFill>
                  <a:srgbClr val="15716E"/>
                </a:solidFill>
                <a:latin typeface="Microsoft YaHei"/>
              </a:defRPr>
            </a:pPr>
            <a:r>
              <a:t>组织请求</a:t>
            </a:r>
          </a:p>
          <a:p>
            <a:pPr algn="ctr">
              <a:spcBef>
                <a:spcPts val="400"/>
              </a:spcBef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messages 风格</a:t>
            </a:r>
          </a:p>
          <a:p>
            <a:pPr algn="ctr">
              <a:spcBef>
                <a:spcPts val="400"/>
              </a:spcBef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system + user + schema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23560" y="2633472"/>
            <a:ext cx="356616" cy="0"/>
          </a:xfrm>
          <a:prstGeom prst="line">
            <a:avLst/>
          </a:prstGeom>
          <a:ln w="1778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053328" y="1874519"/>
            <a:ext cx="2176272" cy="1508760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ctr"/>
          <a:lstStyle/>
          <a:p>
            <a:pPr algn="ctr">
              <a:defRPr sz="1800" b="1">
                <a:solidFill>
                  <a:srgbClr val="15716E"/>
                </a:solidFill>
                <a:latin typeface="Microsoft YaHei"/>
              </a:defRPr>
            </a:pPr>
            <a:r>
              <a:t>Provider</a:t>
            </a:r>
          </a:p>
          <a:p>
            <a:pPr algn="ctr">
              <a:spcBef>
                <a:spcPts val="400"/>
              </a:spcBef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Mock 稳定测试</a:t>
            </a:r>
          </a:p>
          <a:p>
            <a:pPr algn="ctr">
              <a:spcBef>
                <a:spcPts val="400"/>
              </a:spcBef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真实模型轮询调用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75320" y="2633472"/>
            <a:ext cx="356616" cy="0"/>
          </a:xfrm>
          <a:prstGeom prst="line">
            <a:avLst/>
          </a:prstGeom>
          <a:ln w="1778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705088" y="1874519"/>
            <a:ext cx="2176272" cy="1508760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ctr"/>
          <a:lstStyle/>
          <a:p>
            <a:pPr algn="ctr">
              <a:defRPr sz="1800" b="1">
                <a:solidFill>
                  <a:srgbClr val="15716E"/>
                </a:solidFill>
                <a:latin typeface="Microsoft YaHei"/>
              </a:defRPr>
            </a:pPr>
            <a:r>
              <a:t>结构化结果</a:t>
            </a:r>
          </a:p>
          <a:p>
            <a:pPr algn="ctr">
              <a:spcBef>
                <a:spcPts val="400"/>
              </a:spcBef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评分 / 标签 / 风险</a:t>
            </a:r>
          </a:p>
          <a:p>
            <a:pPr algn="ctr">
              <a:spcBef>
                <a:spcPts val="400"/>
              </a:spcBef>
              <a:defRPr sz="1140" b="0">
                <a:solidFill>
                  <a:srgbClr val="606E76"/>
                </a:solidFill>
                <a:latin typeface="Microsoft YaHei"/>
              </a:defRPr>
            </a:pPr>
            <a:r>
              <a:t>决策与建议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822191"/>
            <a:ext cx="3154680" cy="1207008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defRPr sz="1700" b="1">
                <a:solidFill>
                  <a:srgbClr val="15716E"/>
                </a:solidFill>
                <a:latin typeface="Microsoft YaHei"/>
              </a:defRPr>
            </a:pPr>
            <a:r>
              <a:t>落库位置</a:t>
            </a:r>
          </a:p>
          <a:p>
            <a:pPr algn="l">
              <a:spcBef>
                <a:spcPts val="400"/>
              </a:spcBef>
              <a:defRPr sz="1120" b="0">
                <a:solidFill>
                  <a:srgbClr val="606E76"/>
                </a:solidFill>
                <a:latin typeface="Microsoft YaHei"/>
              </a:defRPr>
            </a:pPr>
            <a:r>
              <a:t>article_ai_analysis</a:t>
            </a:r>
          </a:p>
          <a:p>
            <a:pPr algn="l">
              <a:spcBef>
                <a:spcPts val="400"/>
              </a:spcBef>
              <a:defRPr sz="1120" b="0">
                <a:solidFill>
                  <a:srgbClr val="606E76"/>
                </a:solidFill>
                <a:latin typeface="Microsoft YaHei"/>
              </a:defRPr>
            </a:pPr>
            <a:r>
              <a:t>article_ai_tag_on_article</a:t>
            </a:r>
          </a:p>
          <a:p>
            <a:pPr algn="l">
              <a:spcBef>
                <a:spcPts val="400"/>
              </a:spcBef>
              <a:defRPr sz="1120" b="0">
                <a:solidFill>
                  <a:srgbClr val="606E76"/>
                </a:solidFill>
                <a:latin typeface="Microsoft YaHei"/>
              </a:defRPr>
            </a:pPr>
            <a:r>
              <a:t>article.status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822191"/>
            <a:ext cx="3154680" cy="1207008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defRPr sz="1700" b="1">
                <a:solidFill>
                  <a:srgbClr val="15716E"/>
                </a:solidFill>
                <a:latin typeface="Microsoft YaHei"/>
              </a:defRPr>
            </a:pPr>
            <a:r>
              <a:t>业务影响</a:t>
            </a:r>
          </a:p>
          <a:p>
            <a:pPr algn="l">
              <a:spcBef>
                <a:spcPts val="400"/>
              </a:spcBef>
              <a:defRPr sz="1120" b="0">
                <a:solidFill>
                  <a:srgbClr val="606E76"/>
                </a:solidFill>
                <a:latin typeface="Microsoft YaHei"/>
              </a:defRPr>
            </a:pPr>
            <a:r>
              <a:t>展示控制</a:t>
            </a:r>
          </a:p>
          <a:p>
            <a:pPr algn="l">
              <a:spcBef>
                <a:spcPts val="400"/>
              </a:spcBef>
              <a:defRPr sz="1120" b="0">
                <a:solidFill>
                  <a:srgbClr val="606E76"/>
                </a:solidFill>
                <a:latin typeface="Microsoft YaHei"/>
              </a:defRPr>
            </a:pPr>
            <a:r>
              <a:t>推荐排序</a:t>
            </a:r>
          </a:p>
          <a:p>
            <a:pPr algn="l">
              <a:spcBef>
                <a:spcPts val="400"/>
              </a:spcBef>
              <a:defRPr sz="1120" b="0">
                <a:solidFill>
                  <a:srgbClr val="606E76"/>
                </a:solidFill>
                <a:latin typeface="Microsoft YaHei"/>
              </a:defRPr>
            </a:pPr>
            <a:r>
              <a:t>作者评分与通知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3822191"/>
            <a:ext cx="2926080" cy="1207008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defRPr sz="1700" b="1">
                <a:solidFill>
                  <a:srgbClr val="15716E"/>
                </a:solidFill>
                <a:latin typeface="Microsoft YaHei"/>
              </a:defRPr>
            </a:pPr>
            <a:r>
              <a:t>失败策略</a:t>
            </a:r>
          </a:p>
          <a:p>
            <a:pPr algn="l">
              <a:spcBef>
                <a:spcPts val="400"/>
              </a:spcBef>
              <a:defRPr sz="1120" b="0">
                <a:solidFill>
                  <a:srgbClr val="606E76"/>
                </a:solidFill>
                <a:latin typeface="Microsoft YaHei"/>
              </a:defRPr>
            </a:pPr>
            <a:r>
              <a:t>模型异常不放行</a:t>
            </a:r>
          </a:p>
          <a:p>
            <a:pPr algn="l">
              <a:spcBef>
                <a:spcPts val="400"/>
              </a:spcBef>
              <a:defRPr sz="1120" b="0">
                <a:solidFill>
                  <a:srgbClr val="606E76"/>
                </a:solidFill>
                <a:latin typeface="Microsoft YaHei"/>
              </a:defRPr>
            </a:pPr>
            <a:r>
              <a:t>进入 REVIEW_REQUIRED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rPr dirty="0" err="1"/>
              <a:t>推荐</a:t>
            </a:r>
            <a:endParaRPr lang="en-US" sz="2800" dirty="0">
              <a:latin typeface="+mj-l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4983480" cy="2212848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ctr"/>
          <a:lstStyle/>
          <a:p>
            <a:pPr algn="ctr">
              <a:defRPr sz="1900" b="1">
                <a:solidFill>
                  <a:srgbClr val="15716E"/>
                </a:solidFill>
                <a:latin typeface="Microsoft YaHei"/>
              </a:defRPr>
            </a:pPr>
            <a:r>
              <a:t>可解释推荐公式</a:t>
            </a:r>
          </a:p>
          <a:p>
            <a:pPr algn="ctr">
              <a:spcBef>
                <a:spcPts val="400"/>
              </a:spcBef>
              <a:defRPr sz="1300" b="0">
                <a:solidFill>
                  <a:srgbClr val="606E76"/>
                </a:solidFill>
                <a:latin typeface="Microsoft YaHei"/>
              </a:defRPr>
            </a:pPr>
            <a:r>
              <a:t>tagMatch * 4 + authorAffinity * 2</a:t>
            </a:r>
          </a:p>
          <a:p>
            <a:pPr algn="ctr">
              <a:spcBef>
                <a:spcPts val="400"/>
              </a:spcBef>
              <a:defRPr sz="1300" b="0">
                <a:solidFill>
                  <a:srgbClr val="606E76"/>
                </a:solidFill>
                <a:latin typeface="Microsoft YaHei"/>
              </a:defRPr>
            </a:pPr>
            <a:r>
              <a:t>+ authorQuality * 1.2 + contentQuality + freshness</a:t>
            </a:r>
          </a:p>
          <a:p>
            <a:pPr algn="ctr">
              <a:spcBef>
                <a:spcPts val="400"/>
              </a:spcBef>
              <a:defRPr sz="1300" b="0">
                <a:solidFill>
                  <a:srgbClr val="606E76"/>
                </a:solidFill>
                <a:latin typeface="Microsoft YaHei"/>
              </a:defRPr>
            </a:pPr>
            <a:r>
              <a:t>- riskPenalty - seenPenalty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83080"/>
            <a:ext cx="2240280" cy="1060704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defRPr sz="1650" b="1">
                <a:solidFill>
                  <a:srgbClr val="15716E"/>
                </a:solidFill>
                <a:latin typeface="Microsoft YaHei"/>
              </a:defRPr>
            </a:pPr>
            <a:r>
              <a:t>候选过滤</a:t>
            </a:r>
          </a:p>
          <a:p>
            <a:pPr algn="l">
              <a:spcBef>
                <a:spcPts val="400"/>
              </a:spcBef>
              <a:defRPr sz="1080" b="0">
                <a:solidFill>
                  <a:srgbClr val="606E76"/>
                </a:solidFill>
                <a:latin typeface="Microsoft YaHei"/>
              </a:defRPr>
            </a:pPr>
            <a:r>
              <a:t>PUBLISHED / LOW_PRIORITY</a:t>
            </a:r>
          </a:p>
          <a:p>
            <a:pPr algn="l">
              <a:spcBef>
                <a:spcPts val="400"/>
              </a:spcBef>
              <a:defRPr sz="1080" b="0">
                <a:solidFill>
                  <a:srgbClr val="606E76"/>
                </a:solidFill>
                <a:latin typeface="Microsoft YaHei"/>
              </a:defRPr>
            </a:pPr>
            <a:r>
              <a:t>legalityScore &gt;= 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1783080"/>
            <a:ext cx="2240280" cy="1060704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defRPr sz="1650" b="1">
                <a:solidFill>
                  <a:srgbClr val="15716E"/>
                </a:solidFill>
                <a:latin typeface="Microsoft YaHei"/>
              </a:defRPr>
            </a:pPr>
            <a:r>
              <a:t>输入信号</a:t>
            </a:r>
          </a:p>
          <a:p>
            <a:pPr algn="l">
              <a:spcBef>
                <a:spcPts val="400"/>
              </a:spcBef>
              <a:defRPr sz="1080" b="0">
                <a:solidFill>
                  <a:srgbClr val="606E76"/>
                </a:solidFill>
                <a:latin typeface="Microsoft YaHei"/>
              </a:defRPr>
            </a:pPr>
            <a:r>
              <a:t>画像、AI 标签</a:t>
            </a:r>
          </a:p>
          <a:p>
            <a:pPr algn="l">
              <a:spcBef>
                <a:spcPts val="400"/>
              </a:spcBef>
              <a:defRPr sz="1080" b="0">
                <a:solidFill>
                  <a:srgbClr val="606E76"/>
                </a:solidFill>
                <a:latin typeface="Microsoft YaHei"/>
              </a:defRPr>
            </a:pPr>
            <a:r>
              <a:t>14 天统计、已看记录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944368"/>
            <a:ext cx="2240280" cy="1060704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defRPr sz="1650" b="1">
                <a:solidFill>
                  <a:srgbClr val="15716E"/>
                </a:solidFill>
                <a:latin typeface="Microsoft YaHei"/>
              </a:defRPr>
            </a:pPr>
            <a:r>
              <a:t>排序输出</a:t>
            </a:r>
          </a:p>
          <a:p>
            <a:pPr algn="l">
              <a:spcBef>
                <a:spcPts val="400"/>
              </a:spcBef>
              <a:defRPr sz="1080" b="0">
                <a:solidFill>
                  <a:srgbClr val="606E76"/>
                </a:solidFill>
                <a:latin typeface="Microsoft YaHei"/>
              </a:defRPr>
            </a:pPr>
            <a:r>
              <a:t>推荐列表</a:t>
            </a:r>
          </a:p>
          <a:p>
            <a:pPr algn="l">
              <a:spcBef>
                <a:spcPts val="400"/>
              </a:spcBef>
              <a:defRPr sz="1080" b="0">
                <a:solidFill>
                  <a:srgbClr val="606E76"/>
                </a:solidFill>
                <a:latin typeface="Microsoft YaHei"/>
              </a:defRPr>
            </a:pPr>
            <a:r>
              <a:t>requestId 返回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2944368"/>
            <a:ext cx="2240280" cy="1060704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defRPr sz="1650" b="1">
                <a:solidFill>
                  <a:srgbClr val="15716E"/>
                </a:solidFill>
                <a:latin typeface="Microsoft YaHei"/>
              </a:defRPr>
            </a:pPr>
            <a:r>
              <a:t>请求记录</a:t>
            </a:r>
          </a:p>
          <a:p>
            <a:pPr algn="l">
              <a:spcBef>
                <a:spcPts val="400"/>
              </a:spcBef>
              <a:defRPr sz="1080" b="0">
                <a:solidFill>
                  <a:srgbClr val="606E76"/>
                </a:solidFill>
                <a:latin typeface="Microsoft YaHei"/>
              </a:defRPr>
            </a:pPr>
            <a:r>
              <a:t>reco_request_log</a:t>
            </a:r>
          </a:p>
          <a:p>
            <a:pPr algn="l">
              <a:spcBef>
                <a:spcPts val="400"/>
              </a:spcBef>
              <a:defRPr sz="1080" b="0">
                <a:solidFill>
                  <a:srgbClr val="606E76"/>
                </a:solidFill>
                <a:latin typeface="Microsoft YaHei"/>
              </a:defRPr>
            </a:pPr>
            <a:r>
              <a:t>曝光与 seen 回写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rPr lang="zh-CN" altLang="en-US" sz="2100" b="1" dirty="0">
                <a:solidFill>
                  <a:srgbClr val="243846"/>
                </a:solidFill>
                <a:latin typeface="Microsoft YaHei"/>
              </a:rPr>
              <a:t>用户</a:t>
            </a:r>
            <a:r>
              <a:rPr sz="2100" b="1" dirty="0" err="1">
                <a:solidFill>
                  <a:srgbClr val="24384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画像反馈</a:t>
            </a:r>
            <a:endParaRPr lang="en-US" altLang="zh-CN" sz="2100" b="1" dirty="0">
              <a:solidFill>
                <a:srgbClr val="24384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1737360" cy="1508760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ctr"/>
          <a:lstStyle/>
          <a:p>
            <a:pPr algn="ctr">
              <a:defRPr sz="1700" b="1">
                <a:solidFill>
                  <a:srgbClr val="15716E"/>
                </a:solidFill>
                <a:latin typeface="Microsoft YaHei"/>
              </a:defRPr>
            </a:pPr>
            <a:r>
              <a:t>展示</a:t>
            </a:r>
          </a:p>
          <a:p>
            <a:pPr algn="ctr">
              <a:spcBef>
                <a:spcPts val="400"/>
              </a:spcBef>
              <a:defRPr sz="1010" b="0">
                <a:solidFill>
                  <a:srgbClr val="606E76"/>
                </a:solidFill>
                <a:latin typeface="Microsoft YaHei"/>
              </a:defRPr>
            </a:pPr>
            <a:r>
              <a:t>推荐列表返回</a:t>
            </a:r>
          </a:p>
          <a:p>
            <a:pPr algn="ctr">
              <a:spcBef>
                <a:spcPts val="400"/>
              </a:spcBef>
              <a:defRPr sz="1010" b="0">
                <a:solidFill>
                  <a:srgbClr val="606E76"/>
                </a:solidFill>
                <a:latin typeface="Microsoft YaHei"/>
              </a:defRPr>
            </a:pPr>
            <a:r>
              <a:t>自动写曝光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32304" y="2587752"/>
            <a:ext cx="292608" cy="0"/>
          </a:xfrm>
          <a:prstGeom prst="line">
            <a:avLst/>
          </a:prstGeom>
          <a:ln w="1778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88920" y="1828800"/>
            <a:ext cx="1737360" cy="1508760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ctr"/>
          <a:lstStyle/>
          <a:p>
            <a:pPr algn="ctr">
              <a:defRPr sz="1700" b="1">
                <a:solidFill>
                  <a:srgbClr val="15716E"/>
                </a:solidFill>
                <a:latin typeface="Microsoft YaHei"/>
              </a:defRPr>
            </a:pPr>
            <a:r>
              <a:t>行为</a:t>
            </a:r>
          </a:p>
          <a:p>
            <a:pPr algn="ctr">
              <a:spcBef>
                <a:spcPts val="400"/>
              </a:spcBef>
              <a:defRPr sz="1010" b="0">
                <a:solidFill>
                  <a:srgbClr val="606E76"/>
                </a:solidFill>
                <a:latin typeface="Microsoft YaHei"/>
              </a:defRPr>
            </a:pPr>
            <a:r>
              <a:t>点击、停留、阅读完成</a:t>
            </a:r>
          </a:p>
          <a:p>
            <a:pPr algn="ctr">
              <a:spcBef>
                <a:spcPts val="400"/>
              </a:spcBef>
              <a:defRPr sz="1010" b="0">
                <a:solidFill>
                  <a:srgbClr val="606E76"/>
                </a:solidFill>
                <a:latin typeface="Microsoft YaHei"/>
              </a:defRPr>
            </a:pPr>
            <a:r>
              <a:t>点赞、评论、隐藏、举报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62856" y="2587752"/>
            <a:ext cx="292608" cy="0"/>
          </a:xfrm>
          <a:prstGeom prst="line">
            <a:avLst/>
          </a:prstGeom>
          <a:ln w="1778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919472" y="1828800"/>
            <a:ext cx="1737360" cy="1508760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ctr"/>
          <a:lstStyle/>
          <a:p>
            <a:pPr algn="ctr">
              <a:defRPr sz="1700" b="1">
                <a:solidFill>
                  <a:srgbClr val="15716E"/>
                </a:solidFill>
                <a:latin typeface="Microsoft YaHei"/>
              </a:defRPr>
            </a:pPr>
            <a:r>
              <a:t>事件</a:t>
            </a:r>
          </a:p>
          <a:p>
            <a:pPr algn="ctr">
              <a:spcBef>
                <a:spcPts val="400"/>
              </a:spcBef>
              <a:defRPr sz="1010" b="0">
                <a:solidFill>
                  <a:srgbClr val="606E76"/>
                </a:solidFill>
                <a:latin typeface="Microsoft YaHei"/>
              </a:defRPr>
            </a:pPr>
            <a:r>
              <a:t>reco_event</a:t>
            </a:r>
          </a:p>
          <a:p>
            <a:pPr algn="ctr">
              <a:spcBef>
                <a:spcPts val="400"/>
              </a:spcBef>
              <a:defRPr sz="1010" b="0">
                <a:solidFill>
                  <a:srgbClr val="606E76"/>
                </a:solidFill>
                <a:latin typeface="Microsoft YaHei"/>
              </a:defRPr>
            </a:pPr>
            <a:r>
              <a:t>场景、位置、requestId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693408" y="2587752"/>
            <a:ext cx="292608" cy="0"/>
          </a:xfrm>
          <a:prstGeom prst="line">
            <a:avLst/>
          </a:prstGeom>
          <a:ln w="1778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050024" y="1828800"/>
            <a:ext cx="1737360" cy="1508760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ctr"/>
          <a:lstStyle/>
          <a:p>
            <a:pPr algn="ctr">
              <a:defRPr sz="1700" b="1">
                <a:solidFill>
                  <a:srgbClr val="15716E"/>
                </a:solidFill>
                <a:latin typeface="Microsoft YaHei"/>
              </a:defRPr>
            </a:pPr>
            <a:r>
              <a:t>画像</a:t>
            </a:r>
          </a:p>
          <a:p>
            <a:pPr algn="ctr">
              <a:spcBef>
                <a:spcPts val="400"/>
              </a:spcBef>
              <a:defRPr sz="1010" b="0">
                <a:solidFill>
                  <a:srgbClr val="606E76"/>
                </a:solidFill>
                <a:latin typeface="Microsoft YaHei"/>
              </a:defRPr>
            </a:pPr>
            <a:r>
              <a:t>90 天 / 500 事件</a:t>
            </a:r>
          </a:p>
          <a:p>
            <a:pPr algn="ctr">
              <a:spcBef>
                <a:spcPts val="400"/>
              </a:spcBef>
              <a:defRPr sz="1010" b="0">
                <a:solidFill>
                  <a:srgbClr val="606E76"/>
                </a:solidFill>
                <a:latin typeface="Microsoft YaHei"/>
              </a:defRPr>
            </a:pPr>
            <a:r>
              <a:t>时间衰减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823960" y="2587752"/>
            <a:ext cx="292607" cy="0"/>
          </a:xfrm>
          <a:prstGeom prst="line">
            <a:avLst/>
          </a:prstGeom>
          <a:ln w="1778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80576" y="1828800"/>
            <a:ext cx="1737360" cy="1508760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ctr"/>
          <a:lstStyle/>
          <a:p>
            <a:pPr algn="ctr">
              <a:defRPr sz="1700" b="1">
                <a:solidFill>
                  <a:srgbClr val="15716E"/>
                </a:solidFill>
                <a:latin typeface="Microsoft YaHei"/>
              </a:defRPr>
            </a:pPr>
            <a:r>
              <a:t>下次推荐</a:t>
            </a:r>
          </a:p>
          <a:p>
            <a:pPr algn="ctr">
              <a:spcBef>
                <a:spcPts val="400"/>
              </a:spcBef>
              <a:defRPr sz="1010" b="0">
                <a:solidFill>
                  <a:srgbClr val="606E76"/>
                </a:solidFill>
                <a:latin typeface="Microsoft YaHei"/>
              </a:defRPr>
            </a:pPr>
            <a:r>
              <a:t>tagVector</a:t>
            </a:r>
          </a:p>
          <a:p>
            <a:pPr algn="ctr">
              <a:spcBef>
                <a:spcPts val="400"/>
              </a:spcBef>
              <a:defRPr sz="1010" b="0">
                <a:solidFill>
                  <a:srgbClr val="606E76"/>
                </a:solidFill>
                <a:latin typeface="Microsoft YaHei"/>
              </a:defRPr>
            </a:pPr>
            <a:r>
              <a:t>authorAffinity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950208"/>
            <a:ext cx="3063240" cy="1143000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defRPr sz="1700" b="1">
                <a:solidFill>
                  <a:srgbClr val="15716E"/>
                </a:solidFill>
                <a:latin typeface="Microsoft YaHei"/>
              </a:defRPr>
            </a:pPr>
            <a:r>
              <a:t>正向信号</a:t>
            </a:r>
          </a:p>
          <a:p>
            <a:pPr algn="l">
              <a:spcBef>
                <a:spcPts val="400"/>
              </a:spcBef>
              <a:defRPr sz="1130" b="0">
                <a:solidFill>
                  <a:srgbClr val="606E76"/>
                </a:solidFill>
                <a:latin typeface="Microsoft YaHei"/>
              </a:defRPr>
            </a:pPr>
            <a:r>
              <a:t>点击、阅读完成、点赞、评论</a:t>
            </a:r>
          </a:p>
          <a:p>
            <a:pPr algn="l">
              <a:spcBef>
                <a:spcPts val="400"/>
              </a:spcBef>
              <a:defRPr sz="1130" b="0">
                <a:solidFill>
                  <a:srgbClr val="606E76"/>
                </a:solidFill>
                <a:latin typeface="Microsoft YaHei"/>
              </a:defRPr>
            </a:pPr>
            <a:r>
              <a:t>提高相关标签和作者权重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3950208"/>
            <a:ext cx="3063240" cy="1143000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defRPr sz="1700" b="1">
                <a:solidFill>
                  <a:srgbClr val="15716E"/>
                </a:solidFill>
                <a:latin typeface="Microsoft YaHei"/>
              </a:defRPr>
            </a:pPr>
            <a:r>
              <a:t>负向信号</a:t>
            </a:r>
          </a:p>
          <a:p>
            <a:pPr algn="l">
              <a:spcBef>
                <a:spcPts val="400"/>
              </a:spcBef>
              <a:defRPr sz="1130" b="0">
                <a:solidFill>
                  <a:srgbClr val="606E76"/>
                </a:solidFill>
                <a:latin typeface="Microsoft YaHei"/>
              </a:defRPr>
            </a:pPr>
            <a:r>
              <a:t>隐藏、举报</a:t>
            </a:r>
          </a:p>
          <a:p>
            <a:pPr algn="l">
              <a:spcBef>
                <a:spcPts val="400"/>
              </a:spcBef>
              <a:defRPr sz="1130" b="0">
                <a:solidFill>
                  <a:srgbClr val="606E76"/>
                </a:solidFill>
                <a:latin typeface="Microsoft YaHei"/>
              </a:defRPr>
            </a:pPr>
            <a:r>
              <a:t>降低相似内容和作者权重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950208"/>
            <a:ext cx="2788920" cy="1143000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defRPr sz="1700" b="1">
                <a:solidFill>
                  <a:srgbClr val="15716E"/>
                </a:solidFill>
                <a:latin typeface="Microsoft YaHei"/>
              </a:defRPr>
            </a:pPr>
            <a:r>
              <a:t>稳定性</a:t>
            </a:r>
          </a:p>
          <a:p>
            <a:pPr algn="l">
              <a:spcBef>
                <a:spcPts val="400"/>
              </a:spcBef>
              <a:defRPr sz="1130" b="0">
                <a:solidFill>
                  <a:srgbClr val="606E76"/>
                </a:solidFill>
                <a:latin typeface="Microsoft YaHei"/>
              </a:defRPr>
            </a:pPr>
            <a:r>
              <a:t>旧行为逐渐衰减</a:t>
            </a:r>
          </a:p>
          <a:p>
            <a:pPr algn="l">
              <a:spcBef>
                <a:spcPts val="400"/>
              </a:spcBef>
              <a:defRPr sz="1130" b="0">
                <a:solidFill>
                  <a:srgbClr val="606E76"/>
                </a:solidFill>
                <a:latin typeface="Microsoft YaHei"/>
              </a:defRPr>
            </a:pPr>
            <a:r>
              <a:t>避免兴趣长期锁死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t>安全审计：从请求到证据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ounded Rectangle 6"/>
          <p:cNvSpPr/>
          <p:nvPr/>
        </p:nvSpPr>
        <p:spPr>
          <a:xfrm>
            <a:off x="749808" y="1847088"/>
            <a:ext cx="2240280" cy="1600200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ctr"/>
          <a:lstStyle/>
          <a:p>
            <a:pPr algn="ctr">
              <a:defRPr sz="1720" b="1">
                <a:solidFill>
                  <a:srgbClr val="15716E"/>
                </a:solidFill>
                <a:latin typeface="Microsoft YaHei"/>
              </a:defRPr>
            </a:pPr>
            <a:r>
              <a:t>身份边界</a:t>
            </a:r>
          </a:p>
          <a:p>
            <a:pPr algn="ctr">
              <a:spcBef>
                <a:spcPts val="400"/>
              </a:spcBef>
              <a:defRPr sz="1110" b="0">
                <a:solidFill>
                  <a:srgbClr val="606E76"/>
                </a:solidFill>
                <a:latin typeface="Microsoft YaHei"/>
              </a:defRPr>
            </a:pPr>
            <a:r>
              <a:t>access token</a:t>
            </a:r>
          </a:p>
          <a:p>
            <a:pPr algn="ctr">
              <a:spcBef>
                <a:spcPts val="400"/>
              </a:spcBef>
              <a:defRPr sz="1110" b="0">
                <a:solidFill>
                  <a:srgbClr val="606E76"/>
                </a:solidFill>
                <a:latin typeface="Microsoft YaHei"/>
              </a:defRPr>
            </a:pPr>
            <a:r>
              <a:t>refresh token 仅存哈希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847088"/>
            <a:ext cx="2240280" cy="1600200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ctr"/>
          <a:lstStyle/>
          <a:p>
            <a:pPr algn="ctr">
              <a:defRPr sz="1720" b="1">
                <a:solidFill>
                  <a:srgbClr val="15716E"/>
                </a:solidFill>
                <a:latin typeface="Microsoft YaHei"/>
              </a:defRPr>
            </a:pPr>
            <a:r>
              <a:t>入口边界</a:t>
            </a:r>
          </a:p>
          <a:p>
            <a:pPr algn="ctr">
              <a:spcBef>
                <a:spcPts val="400"/>
              </a:spcBef>
              <a:defRPr sz="1110" b="0">
                <a:solidFill>
                  <a:srgbClr val="606E76"/>
                </a:solidFill>
                <a:latin typeface="Microsoft YaHei"/>
              </a:defRPr>
            </a:pPr>
            <a:r>
              <a:t>网关限流</a:t>
            </a:r>
          </a:p>
          <a:p>
            <a:pPr algn="ctr">
              <a:spcBef>
                <a:spcPts val="400"/>
              </a:spcBef>
              <a:defRPr sz="1110" b="0">
                <a:solidFill>
                  <a:srgbClr val="606E76"/>
                </a:solidFill>
                <a:latin typeface="Microsoft YaHei"/>
              </a:defRPr>
            </a:pPr>
            <a:r>
              <a:t>requestId 透传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1847088"/>
            <a:ext cx="2240280" cy="1600200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ctr"/>
          <a:lstStyle/>
          <a:p>
            <a:pPr algn="ctr">
              <a:defRPr sz="1720" b="1">
                <a:solidFill>
                  <a:srgbClr val="15716E"/>
                </a:solidFill>
                <a:latin typeface="Microsoft YaHei"/>
              </a:defRPr>
            </a:pPr>
            <a:r>
              <a:t>权限边界</a:t>
            </a:r>
          </a:p>
          <a:p>
            <a:pPr algn="ctr">
              <a:spcBef>
                <a:spcPts val="400"/>
              </a:spcBef>
              <a:defRPr sz="1110" b="0">
                <a:solidFill>
                  <a:srgbClr val="606E76"/>
                </a:solidFill>
                <a:latin typeface="Microsoft YaHei"/>
              </a:defRPr>
            </a:pPr>
            <a:r>
              <a:t>角色判断</a:t>
            </a:r>
          </a:p>
          <a:p>
            <a:pPr algn="ctr">
              <a:spcBef>
                <a:spcPts val="400"/>
              </a:spcBef>
              <a:defRPr sz="1110" b="0">
                <a:solidFill>
                  <a:srgbClr val="606E76"/>
                </a:solidFill>
                <a:latin typeface="Microsoft YaHei"/>
              </a:defRPr>
            </a:pPr>
            <a:r>
              <a:t>资源归属校验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1847088"/>
            <a:ext cx="2240280" cy="1600200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ctr"/>
          <a:lstStyle/>
          <a:p>
            <a:pPr algn="ctr">
              <a:defRPr sz="1720" b="1">
                <a:solidFill>
                  <a:srgbClr val="15716E"/>
                </a:solidFill>
                <a:latin typeface="Microsoft YaHei"/>
              </a:defRPr>
            </a:pPr>
            <a:r>
              <a:t>证据边界</a:t>
            </a:r>
          </a:p>
          <a:p>
            <a:pPr algn="ctr">
              <a:spcBef>
                <a:spcPts val="400"/>
              </a:spcBef>
              <a:defRPr sz="1110" b="0">
                <a:solidFill>
                  <a:srgbClr val="606E76"/>
                </a:solidFill>
                <a:latin typeface="Microsoft YaHei"/>
              </a:defRPr>
            </a:pPr>
            <a:r>
              <a:t>audit_log</a:t>
            </a:r>
          </a:p>
          <a:p>
            <a:pPr algn="ctr">
              <a:spcBef>
                <a:spcPts val="400"/>
              </a:spcBef>
              <a:defRPr sz="1110" b="0">
                <a:solidFill>
                  <a:srgbClr val="606E76"/>
                </a:solidFill>
                <a:latin typeface="Microsoft YaHei"/>
              </a:defRPr>
            </a:pPr>
            <a:r>
              <a:t>用户 / 路径 / 动作 / 结果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977639"/>
            <a:ext cx="2971800" cy="1060704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defRPr sz="1639" b="1">
                <a:solidFill>
                  <a:srgbClr val="15716E"/>
                </a:solidFill>
                <a:latin typeface="Microsoft YaHei"/>
              </a:defRPr>
            </a:pPr>
            <a:r>
              <a:t>记录什么</a:t>
            </a:r>
          </a:p>
          <a:p>
            <a:pPr algn="l">
              <a:spcBef>
                <a:spcPts val="400"/>
              </a:spcBef>
              <a:defRPr sz="1080" b="0">
                <a:solidFill>
                  <a:srgbClr val="606E76"/>
                </a:solidFill>
                <a:latin typeface="Microsoft YaHei"/>
              </a:defRPr>
            </a:pPr>
            <a:r>
              <a:t>登录、发文、删除、AI 分析、评论、关注、聊天、异常请求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t>测试证据：闭环是否跑通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Rounded Rectangle 5"/>
          <p:cNvSpPr/>
          <p:nvPr/>
        </p:nvSpPr>
        <p:spPr>
          <a:xfrm>
            <a:off x="713232" y="987552"/>
            <a:ext cx="10652760" cy="566928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defRPr sz="1900" b="1">
                <a:solidFill>
                  <a:srgbClr val="15716E"/>
                </a:solidFill>
                <a:latin typeface="Microsoft YaHei"/>
              </a:defRPr>
            </a:pPr>
            <a:r>
              <a:rPr dirty="0" err="1"/>
              <a:t>测试目标：验证主流程可运行、问题可发现、修复可复验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749808" y="1847088"/>
            <a:ext cx="2331720" cy="1097280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2400" b="1">
                <a:solidFill>
                  <a:srgbClr val="15716E"/>
                </a:solidFill>
                <a:latin typeface="Microsoft YaHei"/>
              </a:defRPr>
            </a:pPr>
            <a:r>
              <a:t>84 / 82</a:t>
            </a:r>
          </a:p>
          <a:p>
            <a:pPr algn="ctr">
              <a:defRPr sz="1250">
                <a:solidFill>
                  <a:srgbClr val="606E76"/>
                </a:solidFill>
                <a:latin typeface="Microsoft YaHei"/>
              </a:defRPr>
            </a:pPr>
            <a:r>
              <a:t>综合黑盒测试</a:t>
            </a:r>
          </a:p>
          <a:p>
            <a:pPr algn="ctr">
              <a:defRPr sz="1050">
                <a:solidFill>
                  <a:srgbClr val="606E76"/>
                </a:solidFill>
                <a:latin typeface="Microsoft YaHei"/>
              </a:defRPr>
            </a:pPr>
            <a:r>
              <a:t>通过率 97.62%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1847088"/>
            <a:ext cx="2331720" cy="1097280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2400" b="1">
                <a:solidFill>
                  <a:srgbClr val="15716E"/>
                </a:solidFill>
                <a:latin typeface="Microsoft YaHei"/>
              </a:defRPr>
            </a:pPr>
            <a:r>
              <a:t>7 / 7</a:t>
            </a:r>
          </a:p>
          <a:p>
            <a:pPr algn="ctr">
              <a:defRPr sz="1250">
                <a:solidFill>
                  <a:srgbClr val="606E76"/>
                </a:solidFill>
                <a:latin typeface="Microsoft YaHei"/>
              </a:defRPr>
            </a:pPr>
            <a:r>
              <a:t>定向修复复验</a:t>
            </a:r>
          </a:p>
          <a:p>
            <a:pPr algn="ctr">
              <a:defRPr sz="1050">
                <a:solidFill>
                  <a:srgbClr val="606E76"/>
                </a:solidFill>
                <a:latin typeface="Microsoft YaHei"/>
              </a:defRPr>
            </a:pPr>
            <a:r>
              <a:t>缺陷闭环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3328" y="1847088"/>
            <a:ext cx="2331720" cy="1097280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2400" b="1">
                <a:solidFill>
                  <a:srgbClr val="15716E"/>
                </a:solidFill>
                <a:latin typeface="Microsoft YaHei"/>
              </a:defRPr>
            </a:pPr>
            <a:r>
              <a:t>13 / 13</a:t>
            </a:r>
          </a:p>
          <a:p>
            <a:pPr algn="ctr">
              <a:defRPr sz="1250">
                <a:solidFill>
                  <a:srgbClr val="606E76"/>
                </a:solidFill>
                <a:latin typeface="Microsoft YaHei"/>
              </a:defRPr>
            </a:pPr>
            <a:r>
              <a:t>推荐专项验证</a:t>
            </a:r>
          </a:p>
          <a:p>
            <a:pPr algn="ctr">
              <a:defRPr sz="1050">
                <a:solidFill>
                  <a:srgbClr val="606E76"/>
                </a:solidFill>
                <a:latin typeface="Microsoft YaHei"/>
              </a:defRPr>
            </a:pPr>
            <a:r>
              <a:t>画像差异有效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05088" y="1847088"/>
            <a:ext cx="2331720" cy="1097280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2400" b="1">
                <a:solidFill>
                  <a:srgbClr val="15716E"/>
                </a:solidFill>
                <a:latin typeface="Microsoft YaHei"/>
              </a:defRPr>
            </a:pPr>
            <a:r>
              <a:t>160 / 16</a:t>
            </a:r>
          </a:p>
          <a:p>
            <a:pPr algn="ctr">
              <a:defRPr sz="1250">
                <a:solidFill>
                  <a:srgbClr val="606E76"/>
                </a:solidFill>
                <a:latin typeface="Microsoft YaHei"/>
              </a:defRPr>
            </a:pPr>
            <a:r>
              <a:t>推荐并发复验</a:t>
            </a:r>
          </a:p>
          <a:p>
            <a:pPr algn="ctr">
              <a:defRPr sz="1050">
                <a:solidFill>
                  <a:srgbClr val="606E76"/>
                </a:solidFill>
                <a:latin typeface="Microsoft YaHei"/>
              </a:defRPr>
            </a:pPr>
            <a:r>
              <a:t>全 200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547872"/>
            <a:ext cx="3154680" cy="1325880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defRPr sz="1700" b="1">
                <a:solidFill>
                  <a:srgbClr val="15716E"/>
                </a:solidFill>
                <a:latin typeface="Microsoft YaHei"/>
              </a:defRPr>
            </a:pPr>
            <a:r>
              <a:t>发现并修复</a:t>
            </a:r>
          </a:p>
          <a:p>
            <a:pPr algn="l">
              <a:spcBef>
                <a:spcPts val="400"/>
              </a:spcBef>
              <a:defRPr sz="1130" b="0">
                <a:solidFill>
                  <a:srgbClr val="606E76"/>
                </a:solidFill>
                <a:latin typeface="Microsoft YaHei"/>
              </a:defRPr>
            </a:pPr>
            <a:r>
              <a:t>注册角色提权风险</a:t>
            </a:r>
          </a:p>
          <a:p>
            <a:pPr algn="l">
              <a:spcBef>
                <a:spcPts val="400"/>
              </a:spcBef>
              <a:defRPr sz="1130" b="0">
                <a:solidFill>
                  <a:srgbClr val="606E76"/>
                </a:solidFill>
                <a:latin typeface="Microsoft YaHei"/>
              </a:defRPr>
            </a:pPr>
            <a:r>
              <a:t>WebSocket 网关转发</a:t>
            </a:r>
          </a:p>
          <a:p>
            <a:pPr algn="l">
              <a:spcBef>
                <a:spcPts val="400"/>
              </a:spcBef>
              <a:defRPr sz="1130" b="0">
                <a:solidFill>
                  <a:srgbClr val="606E76"/>
                </a:solidFill>
                <a:latin typeface="Microsoft YaHei"/>
              </a:defRPr>
            </a:pPr>
            <a:r>
              <a:t>推荐并发写入冲突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547872"/>
            <a:ext cx="3154680" cy="1325880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defRPr sz="1700" b="1">
                <a:solidFill>
                  <a:srgbClr val="15716E"/>
                </a:solidFill>
                <a:latin typeface="Microsoft YaHei"/>
              </a:defRPr>
            </a:pPr>
            <a:r>
              <a:rPr dirty="0" err="1"/>
              <a:t>专项推荐数据</a:t>
            </a:r>
            <a:endParaRPr dirty="0"/>
          </a:p>
          <a:p>
            <a:pPr algn="l">
              <a:spcBef>
                <a:spcPts val="400"/>
              </a:spcBef>
              <a:defRPr sz="1130" b="0">
                <a:solidFill>
                  <a:srgbClr val="606E76"/>
                </a:solidFill>
                <a:latin typeface="Microsoft YaHei"/>
              </a:defRPr>
            </a:pPr>
            <a:r>
              <a:rPr dirty="0"/>
              <a:t>3 </a:t>
            </a:r>
            <a:r>
              <a:rPr dirty="0" err="1"/>
              <a:t>类画像用户</a:t>
            </a:r>
            <a:endParaRPr dirty="0"/>
          </a:p>
          <a:p>
            <a:pPr algn="l">
              <a:spcBef>
                <a:spcPts val="400"/>
              </a:spcBef>
              <a:defRPr sz="1130" b="0">
                <a:solidFill>
                  <a:srgbClr val="606E76"/>
                </a:solidFill>
                <a:latin typeface="Microsoft YaHei"/>
              </a:defRPr>
            </a:pPr>
            <a:r>
              <a:rPr dirty="0"/>
              <a:t>36 </a:t>
            </a:r>
            <a:r>
              <a:rPr dirty="0" err="1"/>
              <a:t>作者</a:t>
            </a:r>
            <a:r>
              <a:rPr dirty="0"/>
              <a:t> / 291 </a:t>
            </a:r>
            <a:r>
              <a:rPr dirty="0" err="1"/>
              <a:t>文章</a:t>
            </a:r>
            <a:endParaRPr dirty="0"/>
          </a:p>
          <a:p>
            <a:pPr algn="l">
              <a:spcBef>
                <a:spcPts val="400"/>
              </a:spcBef>
              <a:defRPr sz="1130" b="0">
                <a:solidFill>
                  <a:srgbClr val="606E76"/>
                </a:solidFill>
                <a:latin typeface="Microsoft YaHei"/>
              </a:defRPr>
            </a:pPr>
            <a:r>
              <a:rPr dirty="0"/>
              <a:t>1021 </a:t>
            </a:r>
            <a:r>
              <a:rPr dirty="0" err="1"/>
              <a:t>条推荐事件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8001000" y="3547872"/>
            <a:ext cx="2926080" cy="1325880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t"/>
          <a:lstStyle/>
          <a:p>
            <a:pPr algn="l">
              <a:defRPr sz="1700" b="1">
                <a:solidFill>
                  <a:srgbClr val="15716E"/>
                </a:solidFill>
                <a:latin typeface="Microsoft YaHei"/>
              </a:defRPr>
            </a:pPr>
            <a:r>
              <a:rPr dirty="0" err="1"/>
              <a:t>结论边界</a:t>
            </a:r>
            <a:endParaRPr dirty="0"/>
          </a:p>
          <a:p>
            <a:pPr algn="l">
              <a:spcBef>
                <a:spcPts val="400"/>
              </a:spcBef>
              <a:defRPr sz="1130" b="0">
                <a:solidFill>
                  <a:srgbClr val="606E76"/>
                </a:solidFill>
                <a:latin typeface="Microsoft YaHei"/>
              </a:defRPr>
            </a:pPr>
            <a:r>
              <a:rPr dirty="0" err="1"/>
              <a:t>证明原型闭环可验证</a:t>
            </a:r>
            <a:endParaRPr dirty="0"/>
          </a:p>
          <a:p>
            <a:pPr algn="l">
              <a:spcBef>
                <a:spcPts val="400"/>
              </a:spcBef>
              <a:defRPr sz="1130" b="0">
                <a:solidFill>
                  <a:srgbClr val="606E76"/>
                </a:solidFill>
                <a:latin typeface="Microsoft YaHei"/>
              </a:defRPr>
            </a:pPr>
            <a:r>
              <a:rPr dirty="0" err="1"/>
              <a:t>不夸大为生产容量测试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914400" y="5358384"/>
            <a:ext cx="10058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20" b="0">
                <a:solidFill>
                  <a:srgbClr val="606E76"/>
                </a:solidFill>
                <a:latin typeface="Microsoft YaHei"/>
              </a:defRPr>
            </a:pPr>
            <a:r>
              <a:t>系统测试使用 Mock Provider 保证可重复；真实模型接入能力另做补充验证。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t>总结与致谢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Rounded Rectangle 5"/>
          <p:cNvSpPr/>
          <p:nvPr/>
        </p:nvSpPr>
        <p:spPr>
          <a:xfrm>
            <a:off x="713232" y="987552"/>
            <a:ext cx="10652760" cy="585216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defRPr sz="1900" b="1">
                <a:solidFill>
                  <a:srgbClr val="15716E"/>
                </a:solidFill>
                <a:latin typeface="Microsoft YaHei"/>
              </a:defRPr>
            </a:pPr>
            <a:r>
              <a:t>完成的是一个可运行、可追踪、可解释的社交平台原型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47088"/>
            <a:ext cx="2240280" cy="1554480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ctr"/>
          <a:lstStyle/>
          <a:p>
            <a:pPr algn="ctr">
              <a:defRPr sz="1720" b="1">
                <a:solidFill>
                  <a:srgbClr val="15716E"/>
                </a:solidFill>
                <a:latin typeface="Microsoft YaHei"/>
              </a:defRPr>
            </a:pPr>
            <a:r>
              <a:t>微服务架构</a:t>
            </a:r>
          </a:p>
          <a:p>
            <a:pPr algn="ctr">
              <a:spcBef>
                <a:spcPts val="400"/>
              </a:spcBef>
              <a:defRPr sz="1110" b="0">
                <a:solidFill>
                  <a:srgbClr val="606E76"/>
                </a:solidFill>
                <a:latin typeface="Microsoft YaHei"/>
              </a:defRPr>
            </a:pPr>
            <a:r>
              <a:t>前端、网关、用户</a:t>
            </a:r>
          </a:p>
          <a:p>
            <a:pPr algn="ctr">
              <a:spcBef>
                <a:spcPts val="400"/>
              </a:spcBef>
              <a:defRPr sz="1110" b="0">
                <a:solidFill>
                  <a:srgbClr val="606E76"/>
                </a:solidFill>
                <a:latin typeface="Microsoft YaHei"/>
              </a:defRPr>
            </a:pPr>
            <a:r>
              <a:t>内容、AI、聊天分离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847088"/>
            <a:ext cx="2240280" cy="1554480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ctr"/>
          <a:lstStyle/>
          <a:p>
            <a:pPr algn="ctr">
              <a:defRPr sz="1720" b="1">
                <a:solidFill>
                  <a:srgbClr val="15716E"/>
                </a:solidFill>
                <a:latin typeface="Microsoft YaHei"/>
              </a:defRPr>
            </a:pPr>
            <a:r>
              <a:t>内容治理</a:t>
            </a:r>
          </a:p>
          <a:p>
            <a:pPr algn="ctr">
              <a:spcBef>
                <a:spcPts val="400"/>
              </a:spcBef>
              <a:defRPr sz="1110" b="0">
                <a:solidFill>
                  <a:srgbClr val="606E76"/>
                </a:solidFill>
                <a:latin typeface="Microsoft YaHei"/>
              </a:defRPr>
            </a:pPr>
            <a:r>
              <a:t>AI 评分、标签</a:t>
            </a:r>
          </a:p>
          <a:p>
            <a:pPr algn="ctr">
              <a:spcBef>
                <a:spcPts val="400"/>
              </a:spcBef>
              <a:defRPr sz="1110" b="0">
                <a:solidFill>
                  <a:srgbClr val="606E76"/>
                </a:solidFill>
                <a:latin typeface="Microsoft YaHei"/>
              </a:defRPr>
            </a:pPr>
            <a:r>
              <a:t>风险与展示状态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1847088"/>
            <a:ext cx="2240280" cy="1554480"/>
          </a:xfrm>
          <a:prstGeom prst="roundRect">
            <a:avLst>
              <a:gd name="adj" fmla="val 8000"/>
            </a:avLst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ctr"/>
          <a:lstStyle/>
          <a:p>
            <a:pPr algn="ctr">
              <a:defRPr sz="1720" b="1">
                <a:solidFill>
                  <a:srgbClr val="15716E"/>
                </a:solidFill>
                <a:latin typeface="Microsoft YaHei"/>
              </a:defRPr>
            </a:pPr>
            <a:r>
              <a:t>推荐闭环</a:t>
            </a:r>
          </a:p>
          <a:p>
            <a:pPr algn="ctr">
              <a:spcBef>
                <a:spcPts val="400"/>
              </a:spcBef>
              <a:defRPr sz="1110" b="0">
                <a:solidFill>
                  <a:srgbClr val="606E76"/>
                </a:solidFill>
                <a:latin typeface="Microsoft YaHei"/>
              </a:defRPr>
            </a:pPr>
            <a:r>
              <a:t>画像、事件</a:t>
            </a:r>
          </a:p>
          <a:p>
            <a:pPr algn="ctr">
              <a:spcBef>
                <a:spcPts val="400"/>
              </a:spcBef>
              <a:defRPr sz="1110" b="0">
                <a:solidFill>
                  <a:srgbClr val="606E76"/>
                </a:solidFill>
                <a:latin typeface="Microsoft YaHei"/>
              </a:defRPr>
            </a:pPr>
            <a:r>
              <a:t>排序与回写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1847088"/>
            <a:ext cx="2240280" cy="1554480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ctr"/>
          <a:lstStyle/>
          <a:p>
            <a:pPr algn="ctr">
              <a:defRPr sz="1720" b="1">
                <a:solidFill>
                  <a:srgbClr val="15716E"/>
                </a:solidFill>
                <a:latin typeface="Microsoft YaHei"/>
              </a:defRPr>
            </a:pPr>
            <a:r>
              <a:t>审计闭环</a:t>
            </a:r>
          </a:p>
          <a:p>
            <a:pPr algn="ctr">
              <a:spcBef>
                <a:spcPts val="400"/>
              </a:spcBef>
              <a:defRPr sz="1110" b="0">
                <a:solidFill>
                  <a:srgbClr val="606E76"/>
                </a:solidFill>
                <a:latin typeface="Microsoft YaHei"/>
              </a:defRPr>
            </a:pPr>
            <a:r>
              <a:t>requestId</a:t>
            </a:r>
          </a:p>
          <a:p>
            <a:pPr algn="ctr">
              <a:spcBef>
                <a:spcPts val="400"/>
              </a:spcBef>
              <a:defRPr sz="1110" b="0">
                <a:solidFill>
                  <a:srgbClr val="606E76"/>
                </a:solidFill>
                <a:latin typeface="Microsoft YaHei"/>
              </a:defRPr>
            </a:pPr>
            <a:r>
              <a:t>audit_log 与运维页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58768"/>
            <a:ext cx="10012680" cy="786384"/>
          </a:xfrm>
          <a:prstGeom prst="roundRect">
            <a:avLst>
              <a:gd name="adj" fmla="val 8000"/>
            </a:avLst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54864" rtlCol="0" anchor="ctr"/>
          <a:lstStyle/>
          <a:p>
            <a:pPr algn="ctr">
              <a:defRPr sz="1660" b="1">
                <a:solidFill>
                  <a:srgbClr val="15716E"/>
                </a:solidFill>
                <a:latin typeface="Microsoft YaHei"/>
              </a:defRPr>
            </a:pPr>
            <a:r>
              <a:t>后续优化方向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606E76"/>
                </a:solidFill>
                <a:latin typeface="Microsoft YaHei"/>
              </a:defRPr>
            </a:pPr>
            <a:r>
              <a:t>性能优化、单元测试、人工复核、长期推荐效果评估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074920"/>
            <a:ext cx="95097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15716E"/>
                </a:solidFill>
                <a:latin typeface="Microsoft YaHei"/>
              </a:defRPr>
            </a:pPr>
            <a:r>
              <a:t>谢谢各位老师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961</TotalTime>
  <Words>519</Words>
  <Application>Microsoft Office PowerPoint</Application>
  <PresentationFormat>宽屏</PresentationFormat>
  <Paragraphs>221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宋体</vt:lpstr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基于微服务的社交平台的设计与实现</dc:title>
  <dc:subject>毕业设计答辩</dc:subject>
  <dc:creator>Administrator</dc:creator>
  <cp:lastModifiedBy>08 miniz</cp:lastModifiedBy>
  <cp:revision>10</cp:revision>
  <dcterms:created xsi:type="dcterms:W3CDTF">2026-05-25T12:38:25Z</dcterms:created>
  <dcterms:modified xsi:type="dcterms:W3CDTF">2026-06-04T02:54:51Z</dcterms:modified>
</cp:coreProperties>
</file>