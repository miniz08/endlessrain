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0" r:id="rId4"/>
    <p:sldId id="259" r:id="rId5"/>
    <p:sldId id="261" r:id="rId6"/>
    <p:sldId id="264" r:id="rId7"/>
    <p:sldId id="266" r:id="rId8"/>
    <p:sldId id="265" r:id="rId9"/>
    <p:sldId id="267" r:id="rId10"/>
    <p:sldId id="268" r:id="rId11"/>
    <p:sldId id="269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77240" y="658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毕业设计答辩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9601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的设计与实现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77240" y="2971800"/>
            <a:ext cx="3657600" cy="0"/>
          </a:xfrm>
          <a:prstGeom prst="line">
            <a:avLst/>
          </a:prstGeom>
          <a:noFill/>
          <a:ln w="254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804672" y="4956048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    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</a:t>
            </a:r>
            <a:r>
              <a:rPr lang="en-US" sz="170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：221404060413</a:t>
            </a:r>
            <a:endParaRPr lang="en-US" sz="1700" dirty="0"/>
          </a:p>
          <a:p>
            <a:pPr marL="0" indent="0">
              <a:buNone/>
            </a:pP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计算机科学与技术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</a:t>
            </a:r>
            <a:r>
              <a:rPr lang="en-US" sz="1700" dirty="0" err="1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指导教师</a:t>
            </a:r>
            <a:r>
              <a:rPr 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70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张蕾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608076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7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HENAN UNIVERSITY OF SCIENCE &amp; TECHNOLOGY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研究背景与课题目标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03504" y="96012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184708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61.56%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用户获取信息渠道中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社交平台占比较高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017520" y="336990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3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4200万/日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065689"/>
            <a:ext cx="2194560" cy="438912"/>
          </a:xfrm>
          <a:prstGeom prst="roundRect">
            <a:avLst/>
          </a:prstGeom>
          <a:solidFill>
            <a:srgbClr val="FFF0F0"/>
          </a:solidFill>
          <a:ln>
            <a:solidFill>
              <a:srgbClr val="FFF0F0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网站系统日均面临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大量自动化威胁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818120" y="1600200"/>
            <a:ext cx="0" cy="324612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75320" y="1499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课题目标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75320" y="2029967"/>
            <a:ext cx="3200400" cy="2474633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 fontScale="85000" lnSpcReduction="10000"/>
          </a:bodyPr>
          <a:lstStyle/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实现一个基于微服务的社交平台原型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分析嵌入内容发布后的治理流程
</a:t>
            </a:r>
            <a:endParaRPr lang="en-US" sz="1750" dirty="0"/>
          </a:p>
          <a:p>
            <a:r>
              <a:rPr lang="en-US" sz="1750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将用户行为、内容质量与推荐展示关联起来
</a:t>
            </a:r>
            <a:endParaRPr lang="en-US" sz="1750" dirty="0"/>
          </a:p>
          <a:p>
            <a:r>
              <a:rPr lang="en-US" sz="1750" dirty="0" err="1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通过审计日志保留关键请求与异常线索</a:t>
            </a:r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endParaRPr lang="en-US" sz="1750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zh-CN" altLang="en-US" dirty="0">
                <a:solidFill>
                  <a:srgbClr val="172033"/>
                </a:solidFill>
                <a:latin typeface="Microsoft YaHei" pitchFamily="34" charset="0"/>
                <a:ea typeface="Microsoft YaHei" pitchFamily="34" charset="-122"/>
              </a:rPr>
              <a:t>形成可追踪的内容治理闭环</a:t>
            </a:r>
            <a:endParaRPr lang="en-US" dirty="0">
              <a:solidFill>
                <a:srgbClr val="172033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8465ECE5-815A-D3EF-06AF-8174411BE4BB}"/>
              </a:ext>
            </a:extLst>
          </p:cNvPr>
          <p:cNvSpPr/>
          <p:nvPr/>
        </p:nvSpPr>
        <p:spPr>
          <a:xfrm>
            <a:off x="3177540" y="18265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4">
                    <a:lumMod val="60000"/>
                    <a:lumOff val="40000"/>
                  </a:scheme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3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A62B512C-771F-E2C1-0139-9C480C6808E8}"/>
              </a:ext>
            </a:extLst>
          </p:cNvPr>
          <p:cNvSpPr/>
          <p:nvPr/>
        </p:nvSpPr>
        <p:spPr>
          <a:xfrm>
            <a:off x="3177540" y="2395728"/>
            <a:ext cx="1920240" cy="43891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algn="ctr"/>
            <a:r>
              <a:rPr lang="zh-CN" alt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</a:rPr>
              <a:t>新发布网站使用</a:t>
            </a:r>
            <a:r>
              <a:rPr lang="en-US" altLang="zh-CN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</a:rPr>
              <a:t>AI</a:t>
            </a:r>
            <a:r>
              <a:rPr lang="zh-CN" alt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</a:rPr>
              <a:t>的比例大幅上述</a:t>
            </a:r>
            <a:endParaRPr lang="en-US" sz="1350" dirty="0">
              <a:solidFill>
                <a:srgbClr val="506070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95EA1B8B-4986-91A7-5622-F5A784B0B3DF}"/>
              </a:ext>
            </a:extLst>
          </p:cNvPr>
          <p:cNvSpPr/>
          <p:nvPr/>
        </p:nvSpPr>
        <p:spPr>
          <a:xfrm>
            <a:off x="5440680" y="186309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zh-CN" altLang="zh-CN" sz="3000" b="1" dirty="0">
                <a:solidFill>
                  <a:srgbClr val="245B9E"/>
                </a:solidFill>
                <a:latin typeface="Microsoft YaHei" pitchFamily="34" charset="0"/>
                <a:ea typeface="Microsoft YaHei" pitchFamily="34" charset="-122"/>
              </a:rPr>
              <a:t>74.2%</a:t>
            </a:r>
            <a:endParaRPr lang="en-US" sz="3000" b="1" dirty="0">
              <a:solidFill>
                <a:srgbClr val="245B9E"/>
              </a:solidFill>
              <a:latin typeface="Microsoft YaHei" pitchFamily="34" charset="0"/>
              <a:ea typeface="Microsoft YaHei" pitchFamily="34" charset="-122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ED22872-7277-3BDA-D028-CFBE39F14673}"/>
              </a:ext>
            </a:extLst>
          </p:cNvPr>
          <p:cNvSpPr/>
          <p:nvPr/>
        </p:nvSpPr>
        <p:spPr>
          <a:xfrm>
            <a:off x="5440680" y="2396412"/>
            <a:ext cx="1920240" cy="438912"/>
          </a:xfrm>
          <a:prstGeom prst="roundRect">
            <a:avLst/>
          </a:prstGeom>
          <a:solidFill>
            <a:srgbClr val="EAF2FF"/>
          </a:solidFill>
          <a:ln>
            <a:solidFill>
              <a:srgbClr val="EAF2FF"/>
            </a:solidFill>
          </a:ln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r>
              <a:rPr lang="zh-CN" altLang="en-US" sz="1350" dirty="0">
                <a:solidFill>
                  <a:srgbClr val="506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生成内容在网页内容的占比重剧增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100" b="1">
                <a:solidFill>
                  <a:srgbClr val="243846"/>
                </a:solidFill>
                <a:latin typeface="Microsoft YaHei"/>
              </a:rPr>
              <a:t>总体架构设计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960120" y="1499616"/>
            <a:ext cx="1874519" cy="32004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5716E"/>
                </a:solidFill>
                <a:latin typeface="Microsoft YaHei"/>
              </a:rPr>
              <a:t>客户端访问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54096" y="1499616"/>
            <a:ext cx="1965960" cy="32004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5716E"/>
                </a:solidFill>
                <a:latin typeface="Microsoft YaHei"/>
              </a:rPr>
              <a:t>前端容器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0096" y="1499616"/>
            <a:ext cx="2331720" cy="32004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5716E"/>
                </a:solidFill>
                <a:latin typeface="Microsoft YaHei"/>
              </a:rPr>
              <a:t>统一入口容器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389888"/>
            <a:ext cx="2331720" cy="32004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27432" rIns="27432" bIns="27432" rtlCol="0" anchor="ctr">
            <a:normAutofit/>
          </a:bodyPr>
          <a:lstStyle/>
          <a:p>
            <a:pPr algn="ctr"/>
            <a:r>
              <a:rPr sz="1300" b="1">
                <a:solidFill>
                  <a:srgbClr val="15716E"/>
                </a:solidFill>
                <a:latin typeface="Microsoft YaHei"/>
              </a:rPr>
              <a:t>业务服务容器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011680"/>
            <a:ext cx="1965960" cy="98755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1500" b="1">
                <a:solidFill>
                  <a:srgbClr val="15716E"/>
                </a:solidFill>
                <a:latin typeface="Microsoft YaHei"/>
              </a:rPr>
              <a:t>浏览器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30" b="0">
                <a:solidFill>
                  <a:srgbClr val="243846"/>
                </a:solidFill>
                <a:latin typeface="Microsoft YaHei"/>
              </a:rPr>
              <a:t>用户访问页面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30" b="0">
                <a:solidFill>
                  <a:srgbClr val="243846"/>
                </a:solidFill>
                <a:latin typeface="Microsoft YaHei"/>
              </a:rPr>
              <a:t>提交业务请求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2011680"/>
            <a:ext cx="1965960" cy="98755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1500" b="1">
                <a:solidFill>
                  <a:srgbClr val="15716E"/>
                </a:solidFill>
                <a:latin typeface="Microsoft YaHei"/>
              </a:rPr>
              <a:t>mofukaze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30" b="0">
                <a:solidFill>
                  <a:srgbClr val="243846"/>
                </a:solidFill>
                <a:latin typeface="Microsoft YaHei"/>
              </a:rPr>
              <a:t>Nuxt3 前端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30" b="0">
                <a:solidFill>
                  <a:srgbClr val="243846"/>
                </a:solidFill>
                <a:latin typeface="Microsoft YaHei"/>
              </a:rPr>
              <a:t>页面展示与交互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0" y="1883664"/>
            <a:ext cx="2331720" cy="1243584"/>
          </a:xfrm>
          <a:prstGeom prst="roundRect">
            <a:avLst/>
          </a:prstGeom>
          <a:solidFill>
            <a:srgbClr val="F0FAF8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1500" b="1">
                <a:solidFill>
                  <a:srgbClr val="15716E"/>
                </a:solidFill>
                <a:latin typeface="Microsoft YaHei"/>
              </a:rPr>
              <a:t>api_gateway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路由转发 / 鉴权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限流 / requestId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审计入口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89920" y="2487168"/>
            <a:ext cx="1234440" cy="1280160"/>
          </a:xfrm>
          <a:prstGeom prst="roundRect">
            <a:avLst/>
          </a:prstGeom>
          <a:solidFill>
            <a:srgbClr val="F0FAF8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1220" b="1">
                <a:solidFill>
                  <a:srgbClr val="15716E"/>
                </a:solidFill>
                <a:latin typeface="Microsoft YaHei"/>
              </a:rPr>
              <a:t>MySQL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950" b="0">
                <a:solidFill>
                  <a:srgbClr val="243846"/>
                </a:solidFill>
                <a:latin typeface="Microsoft YaHei"/>
              </a:rPr>
              <a:t>5.7.44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950" b="0">
                <a:solidFill>
                  <a:srgbClr val="243846"/>
                </a:solidFill>
                <a:latin typeface="Microsoft YaHei"/>
              </a:rPr>
              <a:t>longseason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743200" y="2505456"/>
            <a:ext cx="228600" cy="0"/>
          </a:xfrm>
          <a:prstGeom prst="line">
            <a:avLst/>
          </a:prstGeom>
          <a:ln w="1651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37760" y="2505456"/>
            <a:ext cx="365760" cy="0"/>
          </a:xfrm>
          <a:prstGeom prst="line">
            <a:avLst/>
          </a:prstGeom>
          <a:ln w="1651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635240" y="2505456"/>
            <a:ext cx="640080" cy="0"/>
          </a:xfrm>
          <a:prstGeom prst="line">
            <a:avLst/>
          </a:prstGeom>
          <a:ln w="1651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0120" y="4709160"/>
            <a:ext cx="10287000" cy="73152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bIns="91440" rtlCol="0" anchor="ctr">
            <a:normAutofit/>
          </a:bodyPr>
          <a:lstStyle/>
          <a:p>
            <a:pPr algn="ctr"/>
            <a:r>
              <a:rPr sz="1420" b="1">
                <a:solidFill>
                  <a:srgbClr val="243846"/>
                </a:solidFill>
                <a:latin typeface="Microsoft YaHei"/>
              </a:rPr>
              <a:t>Docker 运行分离：每个服务构建为独立镜像与容器；Docker 内部网络通过服务名通信；对外统一通过网关入口访问。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100" b="1">
                <a:solidFill>
                  <a:srgbClr val="243846"/>
                </a:solidFill>
                <a:latin typeface="Microsoft YaHei"/>
              </a:rPr>
              <a:t>系统核心设计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1641255" y="1830293"/>
            <a:ext cx="1691640" cy="107899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bIns="73152" rtlCol="0" anchor="ctr">
            <a:normAutofit/>
          </a:bodyPr>
          <a:lstStyle/>
          <a:p>
            <a:pPr algn="ctr"/>
            <a:r>
              <a:rPr sz="1430" b="1">
                <a:solidFill>
                  <a:srgbClr val="15716E"/>
                </a:solidFill>
                <a:latin typeface="Microsoft YaHei"/>
              </a:rPr>
              <a:t>1  请求进入</a:t>
            </a:r>
          </a:p>
          <a:p>
            <a:pPr algn="l">
              <a:lnSpc>
                <a:spcPct val="90000"/>
              </a:lnSpc>
              <a:spcBef>
                <a:spcPts val="300"/>
              </a:spcBef>
            </a:pPr>
            <a:r>
              <a:rPr sz="1050" b="0">
                <a:solidFill>
                  <a:srgbClr val="243846"/>
                </a:solidFill>
                <a:latin typeface="Microsoft YaHei"/>
              </a:rPr>
              <a:t>用户登录、发布、互动、聊天等请求统一进入网关。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32895" y="2360645"/>
            <a:ext cx="173736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62763" y="1830293"/>
            <a:ext cx="1691640" cy="107899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bIns="73152" rtlCol="0" anchor="ctr">
            <a:normAutofit/>
          </a:bodyPr>
          <a:lstStyle/>
          <a:p>
            <a:pPr algn="ctr"/>
            <a:r>
              <a:rPr sz="1430" b="1" dirty="0">
                <a:solidFill>
                  <a:srgbClr val="15716E"/>
                </a:solidFill>
                <a:latin typeface="Microsoft YaHei"/>
              </a:rPr>
              <a:t>2  </a:t>
            </a:r>
            <a:r>
              <a:rPr sz="1430" b="1" dirty="0" err="1">
                <a:solidFill>
                  <a:srgbClr val="15716E"/>
                </a:solidFill>
                <a:latin typeface="Microsoft YaHei"/>
              </a:rPr>
              <a:t>网关控制</a:t>
            </a:r>
            <a:endParaRPr sz="1430" b="1" dirty="0">
              <a:solidFill>
                <a:srgbClr val="15716E"/>
              </a:solidFill>
              <a:latin typeface="Microsoft YaHei"/>
            </a:endParaRPr>
          </a:p>
          <a:p>
            <a:pPr algn="l">
              <a:lnSpc>
                <a:spcPct val="90000"/>
              </a:lnSpc>
              <a:spcBef>
                <a:spcPts val="300"/>
              </a:spcBef>
            </a:pPr>
            <a:r>
              <a:rPr sz="1050" b="0" dirty="0" err="1">
                <a:solidFill>
                  <a:srgbClr val="243846"/>
                </a:solidFill>
                <a:latin typeface="Microsoft YaHei"/>
              </a:rPr>
              <a:t>完成身份解析、权限拦截、限流，并生成</a:t>
            </a:r>
            <a:r>
              <a:rPr sz="1050" b="0" dirty="0">
                <a:solidFill>
                  <a:srgbClr val="243846"/>
                </a:solidFill>
                <a:latin typeface="Microsoft YaHei"/>
              </a:rPr>
              <a:t> </a:t>
            </a:r>
            <a:r>
              <a:rPr sz="1050" b="0" dirty="0" err="1">
                <a:solidFill>
                  <a:srgbClr val="243846"/>
                </a:solidFill>
                <a:latin typeface="Microsoft YaHei"/>
              </a:rPr>
              <a:t>requestId</a:t>
            </a:r>
            <a:r>
              <a:rPr sz="1050" b="0" dirty="0">
                <a:solidFill>
                  <a:srgbClr val="243846"/>
                </a:solidFill>
                <a:latin typeface="Microsoft YaHei"/>
              </a:rPr>
              <a:t>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16559" y="2360645"/>
            <a:ext cx="173736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92247" y="1821149"/>
            <a:ext cx="1691640" cy="107899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bIns="73152" rtlCol="0" anchor="ctr">
            <a:normAutofit/>
          </a:bodyPr>
          <a:lstStyle/>
          <a:p>
            <a:pPr algn="ctr"/>
            <a:r>
              <a:rPr sz="1430" b="1">
                <a:solidFill>
                  <a:srgbClr val="15716E"/>
                </a:solidFill>
                <a:latin typeface="Microsoft YaHei"/>
              </a:rPr>
              <a:t>3  业务处理</a:t>
            </a:r>
          </a:p>
          <a:p>
            <a:pPr algn="l">
              <a:lnSpc>
                <a:spcPct val="90000"/>
              </a:lnSpc>
              <a:spcBef>
                <a:spcPts val="300"/>
              </a:spcBef>
            </a:pPr>
            <a:r>
              <a:rPr sz="1050" b="0">
                <a:solidFill>
                  <a:srgbClr val="243846"/>
                </a:solidFill>
                <a:latin typeface="Microsoft YaHei"/>
              </a:rPr>
              <a:t>业务服务处理文章、评论、通知、推荐和私信。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100223" y="2360645"/>
            <a:ext cx="173736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92247" y="4022987"/>
            <a:ext cx="1691640" cy="107899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bIns="73152" rtlCol="0" anchor="ctr">
            <a:normAutofit/>
          </a:bodyPr>
          <a:lstStyle/>
          <a:p>
            <a:pPr algn="ctr"/>
            <a:r>
              <a:rPr sz="1430" b="1">
                <a:solidFill>
                  <a:srgbClr val="15716E"/>
                </a:solidFill>
                <a:latin typeface="Microsoft YaHei"/>
              </a:rPr>
              <a:t>4  AI 治理</a:t>
            </a:r>
          </a:p>
          <a:p>
            <a:pPr algn="l">
              <a:lnSpc>
                <a:spcPct val="90000"/>
              </a:lnSpc>
              <a:spcBef>
                <a:spcPts val="300"/>
              </a:spcBef>
            </a:pPr>
            <a:r>
              <a:rPr sz="1050" b="0">
                <a:solidFill>
                  <a:srgbClr val="243846"/>
                </a:solidFill>
                <a:latin typeface="Microsoft YaHei"/>
              </a:rPr>
              <a:t>文章生成评分、标签、风险等级与审核决策。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983887" y="2360645"/>
            <a:ext cx="173736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85437" y="4022987"/>
            <a:ext cx="1691640" cy="107899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bIns="73152" rtlCol="0" anchor="ctr">
            <a:normAutofit/>
          </a:bodyPr>
          <a:lstStyle/>
          <a:p>
            <a:pPr algn="ctr"/>
            <a:r>
              <a:rPr sz="1430" b="1" dirty="0">
                <a:solidFill>
                  <a:srgbClr val="15716E"/>
                </a:solidFill>
                <a:latin typeface="Microsoft YaHei"/>
              </a:rPr>
              <a:t>5  </a:t>
            </a:r>
            <a:r>
              <a:rPr sz="1430" b="1" dirty="0" err="1">
                <a:solidFill>
                  <a:srgbClr val="15716E"/>
                </a:solidFill>
                <a:latin typeface="Microsoft YaHei"/>
              </a:rPr>
              <a:t>展示推荐</a:t>
            </a:r>
            <a:endParaRPr sz="1430" b="1" dirty="0">
              <a:solidFill>
                <a:srgbClr val="15716E"/>
              </a:solidFill>
              <a:latin typeface="Microsoft YaHei"/>
            </a:endParaRPr>
          </a:p>
          <a:p>
            <a:pPr algn="l">
              <a:lnSpc>
                <a:spcPct val="90000"/>
              </a:lnSpc>
              <a:spcBef>
                <a:spcPts val="300"/>
              </a:spcBef>
            </a:pPr>
            <a:r>
              <a:rPr sz="1050" b="0" dirty="0" err="1">
                <a:solidFill>
                  <a:srgbClr val="243846"/>
                </a:solidFill>
                <a:latin typeface="Microsoft YaHei"/>
              </a:rPr>
              <a:t>只在可展示候选内结合画像与质量信号排序</a:t>
            </a:r>
            <a:r>
              <a:rPr sz="1050" b="0" dirty="0">
                <a:solidFill>
                  <a:srgbClr val="243846"/>
                </a:solidFill>
                <a:latin typeface="Microsoft YaHei"/>
              </a:rPr>
              <a:t>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867551" y="2360645"/>
            <a:ext cx="173736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641255" y="4022987"/>
            <a:ext cx="1691640" cy="107899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bIns="73152" rtlCol="0" anchor="ctr">
            <a:normAutofit/>
          </a:bodyPr>
          <a:lstStyle/>
          <a:p>
            <a:pPr algn="ctr"/>
            <a:r>
              <a:rPr sz="1430" b="1" dirty="0">
                <a:solidFill>
                  <a:srgbClr val="15716E"/>
                </a:solidFill>
                <a:latin typeface="Microsoft YaHei"/>
              </a:rPr>
              <a:t>6  </a:t>
            </a:r>
            <a:r>
              <a:rPr sz="1430" b="1" dirty="0" err="1">
                <a:solidFill>
                  <a:srgbClr val="15716E"/>
                </a:solidFill>
                <a:latin typeface="Microsoft YaHei"/>
              </a:rPr>
              <a:t>回写追踪</a:t>
            </a:r>
            <a:endParaRPr sz="1430" b="1" dirty="0">
              <a:solidFill>
                <a:srgbClr val="15716E"/>
              </a:solidFill>
              <a:latin typeface="Microsoft YaHei"/>
            </a:endParaRPr>
          </a:p>
          <a:p>
            <a:pPr algn="l">
              <a:lnSpc>
                <a:spcPct val="90000"/>
              </a:lnSpc>
              <a:spcBef>
                <a:spcPts val="300"/>
              </a:spcBef>
            </a:pPr>
            <a:r>
              <a:rPr sz="1050" b="0" dirty="0" err="1">
                <a:solidFill>
                  <a:srgbClr val="243846"/>
                </a:solidFill>
                <a:latin typeface="Microsoft YaHei"/>
              </a:rPr>
              <a:t>行为写入推荐事件，关键操作写入审计日志</a:t>
            </a:r>
            <a:r>
              <a:rPr sz="1050" b="0" dirty="0">
                <a:solidFill>
                  <a:srgbClr val="243846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100" b="1" dirty="0" err="1">
                <a:solidFill>
                  <a:srgbClr val="243846"/>
                </a:solidFill>
                <a:latin typeface="Microsoft YaHei"/>
              </a:rPr>
              <a:t>功能模块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685800" y="1627632"/>
            <a:ext cx="2971800" cy="132588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560" b="1">
                <a:solidFill>
                  <a:srgbClr val="15716E"/>
                </a:solidFill>
                <a:latin typeface="Microsoft YaHei"/>
              </a:rPr>
              <a:t>mofukaze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>
                <a:solidFill>
                  <a:srgbClr val="243846"/>
                </a:solidFill>
                <a:latin typeface="Microsoft YaHei"/>
              </a:rPr>
              <a:t>Nuxt3 前端服务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>
                <a:solidFill>
                  <a:srgbClr val="243846"/>
                </a:solidFill>
                <a:latin typeface="Microsoft YaHei"/>
              </a:rPr>
              <a:t>页面展示与用户交互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>
                <a:solidFill>
                  <a:srgbClr val="243846"/>
                </a:solidFill>
                <a:latin typeface="Microsoft YaHei"/>
              </a:rPr>
              <a:t>发布、通知、私信、运维入口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627632"/>
            <a:ext cx="2971800" cy="132588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560" b="1" dirty="0" err="1">
                <a:solidFill>
                  <a:srgbClr val="15716E"/>
                </a:solidFill>
                <a:latin typeface="Microsoft YaHei"/>
              </a:rPr>
              <a:t>api_gateway</a:t>
            </a:r>
            <a:endParaRPr sz="1560" b="1" dirty="0">
              <a:solidFill>
                <a:srgbClr val="15716E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 dirty="0" err="1">
                <a:solidFill>
                  <a:srgbClr val="243846"/>
                </a:solidFill>
                <a:latin typeface="Microsoft YaHei"/>
              </a:rPr>
              <a:t>统一</a:t>
            </a:r>
            <a:r>
              <a:rPr sz="1140" b="0" dirty="0">
                <a:solidFill>
                  <a:srgbClr val="243846"/>
                </a:solidFill>
                <a:latin typeface="Microsoft YaHei"/>
              </a:rPr>
              <a:t> API </a:t>
            </a:r>
            <a:r>
              <a:rPr sz="1140" b="0" dirty="0" err="1">
                <a:solidFill>
                  <a:srgbClr val="243846"/>
                </a:solidFill>
                <a:latin typeface="Microsoft YaHei"/>
              </a:rPr>
              <a:t>入口</a:t>
            </a:r>
            <a:endParaRPr sz="1140" b="0" dirty="0">
              <a:solidFill>
                <a:srgbClr val="243846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 dirty="0" err="1">
                <a:solidFill>
                  <a:srgbClr val="243846"/>
                </a:solidFill>
                <a:latin typeface="Microsoft YaHei"/>
              </a:rPr>
              <a:t>请求转发、鉴权、限流</a:t>
            </a:r>
            <a:endParaRPr sz="1140" b="0" dirty="0">
              <a:solidFill>
                <a:srgbClr val="243846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 dirty="0" err="1">
                <a:solidFill>
                  <a:srgbClr val="243846"/>
                </a:solidFill>
                <a:latin typeface="Microsoft YaHei"/>
              </a:rPr>
              <a:t>requestId</a:t>
            </a:r>
            <a:r>
              <a:rPr sz="1140" b="0" dirty="0">
                <a:solidFill>
                  <a:srgbClr val="243846"/>
                </a:solidFill>
                <a:latin typeface="Microsoft YaHei"/>
              </a:rPr>
              <a:t> </a:t>
            </a:r>
            <a:r>
              <a:rPr sz="1140" b="0" dirty="0" err="1">
                <a:solidFill>
                  <a:srgbClr val="243846"/>
                </a:solidFill>
                <a:latin typeface="Microsoft YaHei"/>
              </a:rPr>
              <a:t>与审计入口</a:t>
            </a:r>
            <a:endParaRPr sz="1140" b="0" dirty="0">
              <a:solidFill>
                <a:srgbClr val="243846"/>
              </a:solidFill>
              <a:latin typeface="Microsoft YaHe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818120" y="1627632"/>
            <a:ext cx="2971800" cy="132588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560" b="1">
                <a:solidFill>
                  <a:srgbClr val="15716E"/>
                </a:solidFill>
                <a:latin typeface="Microsoft YaHei"/>
              </a:rPr>
              <a:t>user_service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>
                <a:solidFill>
                  <a:srgbClr val="243846"/>
                </a:solidFill>
                <a:latin typeface="Microsoft YaHei"/>
              </a:rPr>
              <a:t>用户服务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>
                <a:solidFill>
                  <a:srgbClr val="243846"/>
                </a:solidFill>
                <a:latin typeface="Microsoft YaHei"/>
              </a:rPr>
              <a:t>注册、登录、会话刷新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>
                <a:solidFill>
                  <a:srgbClr val="243846"/>
                </a:solidFill>
                <a:latin typeface="Microsoft YaHei"/>
              </a:rPr>
              <a:t>用户基础资料与角色识别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93008"/>
            <a:ext cx="2971800" cy="132588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560" b="1" dirty="0" err="1">
                <a:solidFill>
                  <a:srgbClr val="15716E"/>
                </a:solidFill>
                <a:latin typeface="Microsoft YaHei"/>
              </a:rPr>
              <a:t>blog_service</a:t>
            </a:r>
            <a:endParaRPr sz="1560" b="1" dirty="0">
              <a:solidFill>
                <a:srgbClr val="15716E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 dirty="0" err="1">
                <a:solidFill>
                  <a:srgbClr val="243846"/>
                </a:solidFill>
                <a:latin typeface="Microsoft YaHei"/>
              </a:rPr>
              <a:t>核心业务服务</a:t>
            </a:r>
            <a:endParaRPr sz="1140" b="0" dirty="0">
              <a:solidFill>
                <a:srgbClr val="243846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 dirty="0" err="1">
                <a:solidFill>
                  <a:srgbClr val="243846"/>
                </a:solidFill>
                <a:latin typeface="Microsoft YaHei"/>
              </a:rPr>
              <a:t>文章、评论、通知</a:t>
            </a:r>
            <a:endParaRPr sz="1140" b="0" dirty="0">
              <a:solidFill>
                <a:srgbClr val="243846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 dirty="0" err="1">
                <a:solidFill>
                  <a:srgbClr val="243846"/>
                </a:solidFill>
                <a:latin typeface="Microsoft YaHei"/>
              </a:rPr>
              <a:t>推荐流、画像与文章统计</a:t>
            </a:r>
            <a:endParaRPr sz="1140" b="0" dirty="0">
              <a:solidFill>
                <a:srgbClr val="243846"/>
              </a:solidFill>
              <a:latin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251960" y="3493008"/>
            <a:ext cx="2971800" cy="132588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560" b="1">
                <a:solidFill>
                  <a:srgbClr val="15716E"/>
                </a:solidFill>
                <a:latin typeface="Microsoft YaHei"/>
              </a:rPr>
              <a:t>ai_service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>
                <a:solidFill>
                  <a:srgbClr val="243846"/>
                </a:solidFill>
                <a:latin typeface="Microsoft YaHei"/>
              </a:rPr>
              <a:t>AI 分析服务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>
                <a:solidFill>
                  <a:srgbClr val="243846"/>
                </a:solidFill>
                <a:latin typeface="Microsoft YaHei"/>
              </a:rPr>
              <a:t>四项评分、风险等级、审核建议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>
                <a:solidFill>
                  <a:srgbClr val="243846"/>
                </a:solidFill>
                <a:latin typeface="Microsoft YaHei"/>
              </a:rPr>
              <a:t>AI 标签与 Provider 封装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493008"/>
            <a:ext cx="2971800" cy="132588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560" b="1">
                <a:solidFill>
                  <a:srgbClr val="15716E"/>
                </a:solidFill>
                <a:latin typeface="Microsoft YaHei"/>
              </a:rPr>
              <a:t>chat_service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>
                <a:solidFill>
                  <a:srgbClr val="243846"/>
                </a:solidFill>
                <a:latin typeface="Microsoft YaHei"/>
              </a:rPr>
              <a:t>聊天服务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>
                <a:solidFill>
                  <a:srgbClr val="243846"/>
                </a:solidFill>
                <a:latin typeface="Microsoft YaHei"/>
              </a:rPr>
              <a:t>聊天线程与消息保存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>
                <a:solidFill>
                  <a:srgbClr val="243846"/>
                </a:solidFill>
                <a:latin typeface="Microsoft YaHei"/>
              </a:rPr>
              <a:t>WebSocket 私信通信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358384"/>
            <a:ext cx="3200400" cy="50292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rmAutofit/>
          </a:bodyPr>
          <a:lstStyle/>
          <a:p>
            <a:pPr algn="ctr"/>
            <a:r>
              <a:rPr sz="2000" b="1">
                <a:solidFill>
                  <a:srgbClr val="15716E"/>
                </a:solidFill>
                <a:latin typeface="Microsoft YaHei"/>
              </a:rPr>
              <a:t>6 个服务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5358384"/>
            <a:ext cx="3200400" cy="50292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rmAutofit/>
          </a:bodyPr>
          <a:lstStyle/>
          <a:p>
            <a:pPr algn="ctr"/>
            <a:r>
              <a:rPr sz="2000" b="1" dirty="0">
                <a:solidFill>
                  <a:srgbClr val="15716E"/>
                </a:solidFill>
                <a:latin typeface="Microsoft YaHei"/>
              </a:rPr>
              <a:t>21 </a:t>
            </a:r>
            <a:r>
              <a:rPr sz="2000" b="1" dirty="0" err="1">
                <a:solidFill>
                  <a:srgbClr val="15716E"/>
                </a:solidFill>
                <a:latin typeface="Microsoft YaHei"/>
              </a:rPr>
              <a:t>张数据表</a:t>
            </a:r>
            <a:endParaRPr sz="2000" b="1" dirty="0">
              <a:solidFill>
                <a:srgbClr val="15716E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100" b="1">
                <a:solidFill>
                  <a:srgbClr val="243846"/>
                </a:solidFill>
                <a:latin typeface="Microsoft YaHei"/>
              </a:rPr>
              <a:t>大模型接入方式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743191" y="1525555"/>
            <a:ext cx="2699471" cy="196540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2800" b="1">
                <a:solidFill>
                  <a:srgbClr val="15716E"/>
                </a:solidFill>
                <a:latin typeface="Microsoft YaHei"/>
              </a:rPr>
              <a:t>blog_service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b="0">
                <a:solidFill>
                  <a:srgbClr val="243846"/>
                </a:solidFill>
                <a:latin typeface="Microsoft YaHei"/>
              </a:rPr>
              <a:t>文章发布后触发分析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2677420" y="2596896"/>
            <a:ext cx="401782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4482" y="1614196"/>
            <a:ext cx="2699471" cy="1965400"/>
          </a:xfrm>
          <a:prstGeom prst="roundRect">
            <a:avLst/>
          </a:prstGeom>
          <a:solidFill>
            <a:srgbClr val="F0FAF8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2800" b="1" dirty="0" err="1">
                <a:solidFill>
                  <a:srgbClr val="15716E"/>
                </a:solidFill>
                <a:latin typeface="Microsoft YaHei"/>
              </a:rPr>
              <a:t>ai_service</a:t>
            </a:r>
            <a:endParaRPr sz="2800" b="1" dirty="0">
              <a:solidFill>
                <a:srgbClr val="15716E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b="0" dirty="0" err="1">
                <a:solidFill>
                  <a:srgbClr val="243846"/>
                </a:solidFill>
                <a:latin typeface="Microsoft YaHei"/>
              </a:rPr>
              <a:t>统一接收内容并组织调用</a:t>
            </a:r>
            <a:endParaRPr b="0" dirty="0">
              <a:solidFill>
                <a:srgbClr val="243846"/>
              </a:solidFill>
              <a:latin typeface="Microsoft YaHei"/>
            </a:endParaRPr>
          </a:p>
        </p:txBody>
      </p:sp>
      <p:cxnSp>
        <p:nvCxnSpPr>
          <p:cNvPr id="10" name="Connector 9"/>
          <p:cNvCxnSpPr>
            <a:cxnSpLocks/>
          </p:cNvCxnSpPr>
          <p:nvPr/>
        </p:nvCxnSpPr>
        <p:spPr>
          <a:xfrm>
            <a:off x="4954277" y="2596896"/>
            <a:ext cx="401782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810095" y="1934796"/>
            <a:ext cx="2699471" cy="196540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2800" b="1" dirty="0">
                <a:solidFill>
                  <a:srgbClr val="15716E"/>
                </a:solidFill>
                <a:latin typeface="Microsoft YaHei"/>
              </a:rPr>
              <a:t>Provider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b="0" dirty="0" err="1">
                <a:solidFill>
                  <a:srgbClr val="243846"/>
                </a:solidFill>
                <a:latin typeface="Microsoft YaHei"/>
              </a:rPr>
              <a:t>真实模型</a:t>
            </a:r>
            <a:r>
              <a:rPr b="0" dirty="0">
                <a:solidFill>
                  <a:srgbClr val="243846"/>
                </a:solidFill>
                <a:latin typeface="Microsoft YaHei"/>
              </a:rPr>
              <a:t> / Mock </a:t>
            </a:r>
            <a:r>
              <a:rPr b="0" dirty="0" err="1">
                <a:solidFill>
                  <a:srgbClr val="243846"/>
                </a:solidFill>
                <a:latin typeface="Microsoft YaHei"/>
              </a:rPr>
              <a:t>测试</a:t>
            </a:r>
            <a:endParaRPr b="0" dirty="0">
              <a:solidFill>
                <a:srgbClr val="243846"/>
              </a:solidFill>
              <a:latin typeface="Microsoft YaHei"/>
            </a:endParaRPr>
          </a:p>
        </p:txBody>
      </p:sp>
      <p:cxnSp>
        <p:nvCxnSpPr>
          <p:cNvPr id="12" name="Connector 11"/>
          <p:cNvCxnSpPr>
            <a:cxnSpLocks/>
          </p:cNvCxnSpPr>
          <p:nvPr/>
        </p:nvCxnSpPr>
        <p:spPr>
          <a:xfrm>
            <a:off x="7231133" y="2596896"/>
            <a:ext cx="401781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080868" y="4086808"/>
            <a:ext cx="2699471" cy="1965400"/>
          </a:xfrm>
          <a:prstGeom prst="roundRect">
            <a:avLst/>
          </a:prstGeom>
          <a:solidFill>
            <a:srgbClr val="F0FAF8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ctr"/>
            <a:r>
              <a:rPr sz="2800" b="1" dirty="0" err="1">
                <a:solidFill>
                  <a:srgbClr val="15716E"/>
                </a:solidFill>
                <a:latin typeface="Microsoft YaHei"/>
              </a:rPr>
              <a:t>结构化结果</a:t>
            </a:r>
            <a:endParaRPr sz="2800" b="1" dirty="0">
              <a:solidFill>
                <a:srgbClr val="15716E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b="0" dirty="0" err="1">
                <a:solidFill>
                  <a:srgbClr val="243846"/>
                </a:solidFill>
                <a:latin typeface="Microsoft YaHei"/>
              </a:rPr>
              <a:t>评分</a:t>
            </a:r>
            <a:r>
              <a:rPr b="0" dirty="0">
                <a:solidFill>
                  <a:srgbClr val="243846"/>
                </a:solidFill>
                <a:latin typeface="Microsoft YaHei"/>
              </a:rPr>
              <a:t> / </a:t>
            </a:r>
            <a:r>
              <a:rPr b="0" dirty="0" err="1">
                <a:solidFill>
                  <a:srgbClr val="243846"/>
                </a:solidFill>
                <a:latin typeface="Microsoft YaHei"/>
              </a:rPr>
              <a:t>标签</a:t>
            </a:r>
            <a:r>
              <a:rPr b="0" dirty="0">
                <a:solidFill>
                  <a:srgbClr val="243846"/>
                </a:solidFill>
                <a:latin typeface="Microsoft YaHei"/>
              </a:rPr>
              <a:t> / </a:t>
            </a:r>
            <a:r>
              <a:rPr b="0" dirty="0" err="1">
                <a:solidFill>
                  <a:srgbClr val="243846"/>
                </a:solidFill>
                <a:latin typeface="Microsoft YaHei"/>
              </a:rPr>
              <a:t>风险</a:t>
            </a:r>
            <a:r>
              <a:rPr b="0" dirty="0">
                <a:solidFill>
                  <a:srgbClr val="243846"/>
                </a:solidFill>
                <a:latin typeface="Microsoft YaHei"/>
              </a:rPr>
              <a:t> / </a:t>
            </a:r>
            <a:r>
              <a:rPr b="0" dirty="0" err="1">
                <a:solidFill>
                  <a:srgbClr val="243846"/>
                </a:solidFill>
                <a:latin typeface="Microsoft YaHei"/>
              </a:rPr>
              <a:t>建议</a:t>
            </a:r>
            <a:endParaRPr b="0" dirty="0">
              <a:solidFill>
                <a:srgbClr val="243846"/>
              </a:solidFill>
              <a:latin typeface="Microsoft YaHei"/>
            </a:endParaRPr>
          </a:p>
        </p:txBody>
      </p:sp>
      <p:cxnSp>
        <p:nvCxnSpPr>
          <p:cNvPr id="14" name="Connector 13"/>
          <p:cNvCxnSpPr>
            <a:cxnSpLocks/>
          </p:cNvCxnSpPr>
          <p:nvPr/>
        </p:nvCxnSpPr>
        <p:spPr>
          <a:xfrm>
            <a:off x="9507988" y="2596896"/>
            <a:ext cx="401782" cy="0"/>
          </a:xfrm>
          <a:prstGeom prst="line">
            <a:avLst/>
          </a:prstGeom>
          <a:ln w="1524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100" b="1">
                <a:solidFill>
                  <a:srgbClr val="243846"/>
                </a:solidFill>
                <a:latin typeface="Microsoft YaHei"/>
              </a:rPr>
              <a:t>用户画像产生机制</a:t>
            </a:r>
            <a:endParaRPr lang="en-US" sz="2800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cxnSp>
        <p:nvCxnSpPr>
          <p:cNvPr id="8" name="Connector 7"/>
          <p:cNvCxnSpPr/>
          <p:nvPr/>
        </p:nvCxnSpPr>
        <p:spPr>
          <a:xfrm>
            <a:off x="2715768" y="2295144"/>
            <a:ext cx="192024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491234" y="1671113"/>
            <a:ext cx="2057400" cy="1042415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bIns="73152" rtlCol="0" anchor="ctr">
            <a:normAutofit/>
          </a:bodyPr>
          <a:lstStyle/>
          <a:p>
            <a:pPr algn="ctr"/>
            <a:r>
              <a:rPr sz="1430" b="1">
                <a:solidFill>
                  <a:srgbClr val="15716E"/>
                </a:solidFill>
                <a:latin typeface="Microsoft YaHei"/>
              </a:rPr>
              <a:t>2  行为采集</a:t>
            </a:r>
          </a:p>
          <a:p>
            <a:pPr algn="l">
              <a:lnSpc>
                <a:spcPct val="90000"/>
              </a:lnSpc>
              <a:spcBef>
                <a:spcPts val="300"/>
              </a:spcBef>
            </a:pPr>
            <a:r>
              <a:rPr sz="1060" b="0">
                <a:solidFill>
                  <a:srgbClr val="243846"/>
                </a:solidFill>
                <a:latin typeface="Microsoft YaHei"/>
              </a:rPr>
              <a:t>点击、停留、阅读完成、点赞、评论、关注、隐藏、举报。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83480" y="2295144"/>
            <a:ext cx="192024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491234" y="3337559"/>
            <a:ext cx="2057400" cy="1042415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bIns="73152" rtlCol="0" anchor="ctr">
            <a:normAutofit/>
          </a:bodyPr>
          <a:lstStyle/>
          <a:p>
            <a:pPr algn="ctr"/>
            <a:r>
              <a:rPr sz="1430" b="1" dirty="0">
                <a:solidFill>
                  <a:srgbClr val="15716E"/>
                </a:solidFill>
                <a:latin typeface="Microsoft YaHei"/>
              </a:rPr>
              <a:t>3  </a:t>
            </a:r>
            <a:r>
              <a:rPr sz="1430" b="1" dirty="0" err="1">
                <a:solidFill>
                  <a:srgbClr val="15716E"/>
                </a:solidFill>
                <a:latin typeface="Microsoft YaHei"/>
              </a:rPr>
              <a:t>事件入库</a:t>
            </a:r>
            <a:endParaRPr sz="1430" b="1" dirty="0">
              <a:solidFill>
                <a:srgbClr val="15716E"/>
              </a:solidFill>
              <a:latin typeface="Microsoft YaHei"/>
            </a:endParaRPr>
          </a:p>
          <a:p>
            <a:pPr algn="l">
              <a:lnSpc>
                <a:spcPct val="90000"/>
              </a:lnSpc>
              <a:spcBef>
                <a:spcPts val="300"/>
              </a:spcBef>
            </a:pPr>
            <a:r>
              <a:rPr sz="1060" b="0" dirty="0" err="1">
                <a:solidFill>
                  <a:srgbClr val="243846"/>
                </a:solidFill>
                <a:latin typeface="Microsoft YaHei"/>
              </a:rPr>
              <a:t>统一写入</a:t>
            </a:r>
            <a:r>
              <a:rPr sz="1060" b="0" dirty="0">
                <a:solidFill>
                  <a:srgbClr val="243846"/>
                </a:solidFill>
                <a:latin typeface="Microsoft YaHei"/>
              </a:rPr>
              <a:t> </a:t>
            </a:r>
            <a:r>
              <a:rPr sz="1060" b="0" dirty="0" err="1">
                <a:solidFill>
                  <a:srgbClr val="243846"/>
                </a:solidFill>
                <a:latin typeface="Microsoft YaHei"/>
              </a:rPr>
              <a:t>reco_event，保留用户、文章、场景和时间</a:t>
            </a:r>
            <a:r>
              <a:rPr sz="1060" b="0" dirty="0">
                <a:solidFill>
                  <a:srgbClr val="243846"/>
                </a:solidFill>
                <a:latin typeface="Microsoft YaHei"/>
              </a:rPr>
              <a:t>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51192" y="2295144"/>
            <a:ext cx="192024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491234" y="5038533"/>
            <a:ext cx="2057400" cy="1042415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73152" rIns="73152" bIns="73152" rtlCol="0" anchor="ctr">
            <a:normAutofit/>
          </a:bodyPr>
          <a:lstStyle/>
          <a:p>
            <a:pPr algn="ctr"/>
            <a:r>
              <a:rPr sz="1430" b="1">
                <a:solidFill>
                  <a:srgbClr val="15716E"/>
                </a:solidFill>
                <a:latin typeface="Microsoft YaHei"/>
              </a:rPr>
              <a:t>4  画像更新</a:t>
            </a:r>
          </a:p>
          <a:p>
            <a:pPr algn="l">
              <a:lnSpc>
                <a:spcPct val="90000"/>
              </a:lnSpc>
              <a:spcBef>
                <a:spcPts val="300"/>
              </a:spcBef>
            </a:pPr>
            <a:r>
              <a:rPr sz="1060" b="0">
                <a:solidFill>
                  <a:srgbClr val="243846"/>
                </a:solidFill>
                <a:latin typeface="Microsoft YaHei"/>
              </a:rPr>
              <a:t>计算 tagVector 与 authorAffinity，同步文章日统计。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518904" y="2295144"/>
            <a:ext cx="192024" cy="0"/>
          </a:xfrm>
          <a:prstGeom prst="line">
            <a:avLst/>
          </a:prstGeom>
          <a:ln w="12700">
            <a:solidFill>
              <a:srgbClr val="B3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251192" y="4151375"/>
            <a:ext cx="2971800" cy="117043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 lnSpcReduction="10000"/>
          </a:bodyPr>
          <a:lstStyle/>
          <a:p>
            <a:pPr algn="l"/>
            <a:r>
              <a:rPr sz="1600" b="1">
                <a:solidFill>
                  <a:srgbClr val="15716E"/>
                </a:solidFill>
                <a:latin typeface="Microsoft YaHei"/>
              </a:rPr>
              <a:t>画像计算范围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00" b="0">
                <a:solidFill>
                  <a:srgbClr val="243846"/>
                </a:solidFill>
                <a:latin typeface="Microsoft YaHei"/>
              </a:rPr>
              <a:t>最近 90 天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00" b="0">
                <a:solidFill>
                  <a:srgbClr val="243846"/>
                </a:solidFill>
                <a:latin typeface="Microsoft YaHei"/>
              </a:rPr>
              <a:t>最多 500 条反馈事件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00" b="0">
                <a:solidFill>
                  <a:srgbClr val="243846"/>
                </a:solidFill>
                <a:latin typeface="Microsoft YaHei"/>
              </a:rPr>
              <a:t>旧事件按时间衰减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7204" y="2258568"/>
            <a:ext cx="2971800" cy="1170432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 lnSpcReduction="10000"/>
          </a:bodyPr>
          <a:lstStyle/>
          <a:p>
            <a:pPr algn="l"/>
            <a:r>
              <a:rPr sz="1600" b="1" dirty="0" err="1">
                <a:solidFill>
                  <a:srgbClr val="15716E"/>
                </a:solidFill>
                <a:latin typeface="Microsoft YaHei"/>
              </a:rPr>
              <a:t>行为权重</a:t>
            </a:r>
            <a:endParaRPr sz="1600" b="1" dirty="0">
              <a:solidFill>
                <a:srgbClr val="15716E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00" b="0" dirty="0" err="1">
                <a:solidFill>
                  <a:srgbClr val="243846"/>
                </a:solidFill>
                <a:latin typeface="Microsoft YaHei"/>
              </a:rPr>
              <a:t>点赞</a:t>
            </a:r>
            <a:r>
              <a:rPr sz="1200" b="0" dirty="0">
                <a:solidFill>
                  <a:srgbClr val="243846"/>
                </a:solidFill>
                <a:latin typeface="Microsoft YaHei"/>
              </a:rPr>
              <a:t> / </a:t>
            </a:r>
            <a:r>
              <a:rPr sz="1200" b="0" dirty="0" err="1">
                <a:solidFill>
                  <a:srgbClr val="243846"/>
                </a:solidFill>
                <a:latin typeface="Microsoft YaHei"/>
              </a:rPr>
              <a:t>评论</a:t>
            </a:r>
            <a:r>
              <a:rPr sz="1200" b="0" dirty="0">
                <a:solidFill>
                  <a:srgbClr val="243846"/>
                </a:solidFill>
                <a:latin typeface="Microsoft YaHei"/>
              </a:rPr>
              <a:t> / </a:t>
            </a:r>
            <a:r>
              <a:rPr sz="1200" b="0" dirty="0" err="1">
                <a:solidFill>
                  <a:srgbClr val="243846"/>
                </a:solidFill>
                <a:latin typeface="Microsoft YaHei"/>
              </a:rPr>
              <a:t>收藏为正反馈</a:t>
            </a:r>
            <a:endParaRPr sz="1200" b="0" dirty="0">
              <a:solidFill>
                <a:srgbClr val="243846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00" b="0" dirty="0" err="1">
                <a:solidFill>
                  <a:srgbClr val="243846"/>
                </a:solidFill>
                <a:latin typeface="Microsoft YaHei"/>
              </a:rPr>
              <a:t>隐藏</a:t>
            </a:r>
            <a:r>
              <a:rPr sz="1200" b="0" dirty="0">
                <a:solidFill>
                  <a:srgbClr val="243846"/>
                </a:solidFill>
                <a:latin typeface="Microsoft YaHei"/>
              </a:rPr>
              <a:t> / </a:t>
            </a:r>
            <a:r>
              <a:rPr sz="1200" b="0" dirty="0" err="1">
                <a:solidFill>
                  <a:srgbClr val="243846"/>
                </a:solidFill>
                <a:latin typeface="Microsoft YaHei"/>
              </a:rPr>
              <a:t>举报为负反馈</a:t>
            </a:r>
            <a:endParaRPr sz="1200" b="0" dirty="0">
              <a:solidFill>
                <a:srgbClr val="243846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00" b="0" dirty="0" err="1">
                <a:solidFill>
                  <a:srgbClr val="243846"/>
                </a:solidFill>
                <a:latin typeface="Microsoft YaHei"/>
              </a:rPr>
              <a:t>停留时间反映兴趣强度</a:t>
            </a:r>
            <a:endParaRPr sz="1200" b="0" dirty="0">
              <a:solidFill>
                <a:srgbClr val="243846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2100" b="1">
                <a:solidFill>
                  <a:srgbClr val="243846"/>
                </a:solidFill>
                <a:latin typeface="Microsoft YaHei"/>
              </a:rPr>
              <a:t>推荐机制设计</a:t>
            </a:r>
            <a:endParaRPr lang="en-US" altLang="zh-CN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087950"/>
            <a:ext cx="2971800" cy="1874519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650" b="1">
                <a:solidFill>
                  <a:srgbClr val="15716E"/>
                </a:solidFill>
                <a:latin typeface="Microsoft YaHei"/>
              </a:rPr>
              <a:t>候选过滤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10" b="0">
                <a:solidFill>
                  <a:srgbClr val="243846"/>
                </a:solidFill>
                <a:latin typeface="Microsoft YaHei"/>
              </a:rPr>
              <a:t>PUBLISHED 与 LOW_PRIORITY 进入候选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10" b="0">
                <a:solidFill>
                  <a:srgbClr val="243846"/>
                </a:solidFill>
                <a:latin typeface="Microsoft YaHei"/>
              </a:rPr>
              <a:t>REVIEW / REJECT 不进入公共列表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10" b="0">
                <a:solidFill>
                  <a:srgbClr val="243846"/>
                </a:solidFill>
                <a:latin typeface="Microsoft YaHei"/>
              </a:rPr>
              <a:t>风险等级不会被用户兴趣绕过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6361" y="1087950"/>
            <a:ext cx="4023360" cy="228600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64592" rIns="164592" bIns="164592" rtlCol="0" anchor="t">
            <a:normAutofit/>
          </a:bodyPr>
          <a:lstStyle/>
          <a:p>
            <a:pPr algn="l"/>
            <a:r>
              <a:rPr sz="1650" b="1">
                <a:solidFill>
                  <a:srgbClr val="243846"/>
                </a:solidFill>
                <a:latin typeface="Microsoft YaHei"/>
              </a:rPr>
              <a:t>推荐总分 =
标签匹配分 × 4
+ 作者亲和度 × 2
+ 作者质量分 × 1.2
+ 内容质量分 + 时间新鲜度
− 风险惩罚 − 已看惩罚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154306"/>
            <a:ext cx="2971800" cy="1874519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650" b="1">
                <a:solidFill>
                  <a:srgbClr val="15716E"/>
                </a:solidFill>
                <a:latin typeface="Microsoft YaHei"/>
              </a:rPr>
              <a:t>排序含义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10" b="0">
                <a:solidFill>
                  <a:srgbClr val="243846"/>
                </a:solidFill>
                <a:latin typeface="Microsoft YaHei"/>
              </a:rPr>
              <a:t>标签匹配体现兴趣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10" b="0">
                <a:solidFill>
                  <a:srgbClr val="243846"/>
                </a:solidFill>
                <a:latin typeface="Microsoft YaHei"/>
              </a:rPr>
              <a:t>作者亲和度体现偏好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10" b="0">
                <a:solidFill>
                  <a:srgbClr val="243846"/>
                </a:solidFill>
                <a:latin typeface="Microsoft YaHei"/>
              </a:rPr>
              <a:t>内容质量体现 AI 与反馈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210" b="0">
                <a:solidFill>
                  <a:srgbClr val="243846"/>
                </a:solidFill>
                <a:latin typeface="Microsoft YaHei"/>
              </a:rPr>
              <a:t>已看惩罚减少重复展示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312850"/>
            <a:ext cx="3246120" cy="91440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550" b="1" dirty="0" err="1">
                <a:solidFill>
                  <a:srgbClr val="15716E"/>
                </a:solidFill>
                <a:latin typeface="Microsoft YaHei"/>
              </a:rPr>
              <a:t>输出结果</a:t>
            </a:r>
            <a:endParaRPr sz="1550" b="1" dirty="0">
              <a:solidFill>
                <a:srgbClr val="15716E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40" b="0" dirty="0" err="1">
                <a:solidFill>
                  <a:srgbClr val="243846"/>
                </a:solidFill>
                <a:latin typeface="Microsoft YaHei"/>
              </a:rPr>
              <a:t>推荐列表与</a:t>
            </a:r>
            <a:r>
              <a:rPr sz="1140" b="0" dirty="0">
                <a:solidFill>
                  <a:srgbClr val="243846"/>
                </a:solidFill>
                <a:latin typeface="Microsoft YaHei"/>
              </a:rPr>
              <a:t> </a:t>
            </a:r>
            <a:r>
              <a:rPr sz="1140" b="0" dirty="0" err="1">
                <a:solidFill>
                  <a:srgbClr val="243846"/>
                </a:solidFill>
                <a:latin typeface="Microsoft YaHei"/>
              </a:rPr>
              <a:t>requestId；候选数量与结果</a:t>
            </a:r>
            <a:r>
              <a:rPr sz="1140" b="0" dirty="0">
                <a:solidFill>
                  <a:srgbClr val="243846"/>
                </a:solidFill>
                <a:latin typeface="Microsoft YaHei"/>
              </a:rPr>
              <a:t> ID </a:t>
            </a:r>
            <a:r>
              <a:rPr sz="1140" b="0" dirty="0" err="1">
                <a:solidFill>
                  <a:srgbClr val="243846"/>
                </a:solidFill>
                <a:latin typeface="Microsoft YaHei"/>
              </a:rPr>
              <a:t>写入日志</a:t>
            </a:r>
            <a:endParaRPr sz="1140" b="0" dirty="0">
              <a:solidFill>
                <a:srgbClr val="243846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100" b="1">
                <a:solidFill>
                  <a:srgbClr val="243846"/>
                </a:solidFill>
                <a:latin typeface="Microsoft YaHei"/>
              </a:rPr>
              <a:t>安全与审计设计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2240280" cy="246888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550" b="1">
                <a:solidFill>
                  <a:srgbClr val="15716E"/>
                </a:solidFill>
                <a:latin typeface="Microsoft YaHei"/>
              </a:rPr>
              <a:t>登录身份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access token + refresh token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refresh token 仅保存哈希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支持刷新、撤销与退出失效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2057400"/>
            <a:ext cx="2240280" cy="246888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550" b="1">
                <a:solidFill>
                  <a:srgbClr val="15716E"/>
                </a:solidFill>
                <a:latin typeface="Microsoft YaHei"/>
              </a:rPr>
              <a:t>角色权限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普通用户访问业务接口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管理员访问 AI / 审计 / 运维接口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敏感接口先做角色判断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2057400"/>
            <a:ext cx="2240280" cy="246888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550" b="1">
                <a:solidFill>
                  <a:srgbClr val="15716E"/>
                </a:solidFill>
                <a:latin typeface="Microsoft YaHei"/>
              </a:rPr>
              <a:t>资源归属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删除文章、删除评论、查看聊天等操作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继续判断资源是否属于当前用户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防止越权操作他人数据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38360" y="2057400"/>
            <a:ext cx="2240280" cy="246888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550" b="1">
                <a:solidFill>
                  <a:srgbClr val="15716E"/>
                </a:solidFill>
                <a:latin typeface="Microsoft YaHei"/>
              </a:rPr>
              <a:t>审计追踪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API 网关生成 requestId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记录用户、路径、动作、结果和状态码</a:t>
            </a: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00" b="0">
                <a:solidFill>
                  <a:srgbClr val="243846"/>
                </a:solidFill>
                <a:latin typeface="Microsoft YaHei"/>
              </a:rPr>
              <a:t>异常时按请求链路定位问题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650992"/>
            <a:ext cx="10744200" cy="438912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>
            <a:normAutofit/>
          </a:bodyPr>
          <a:lstStyle/>
          <a:p>
            <a:pPr algn="ctr"/>
            <a:r>
              <a:rPr sz="1420" b="1">
                <a:solidFill>
                  <a:srgbClr val="243846"/>
                </a:solidFill>
                <a:latin typeface="Microsoft YaHei"/>
              </a:rPr>
              <a:t>结论：网关负责入口控制，业务服务负责归属判断，数据库保留状态与审计证据。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100" b="1">
                <a:solidFill>
                  <a:srgbClr val="243846"/>
                </a:solidFill>
                <a:latin typeface="Microsoft YaHei"/>
              </a:rPr>
              <a:t>系统测试与数据支撑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ounded Rectangle 6"/>
          <p:cNvSpPr/>
          <p:nvPr/>
        </p:nvSpPr>
        <p:spPr>
          <a:xfrm>
            <a:off x="637281" y="3124634"/>
            <a:ext cx="2331720" cy="64008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rmAutofit/>
          </a:bodyPr>
          <a:lstStyle/>
          <a:p>
            <a:pPr algn="ctr"/>
            <a:r>
              <a:rPr sz="2200" b="1">
                <a:solidFill>
                  <a:srgbClr val="15716E"/>
                </a:solidFill>
                <a:latin typeface="Microsoft YaHei"/>
              </a:rPr>
              <a:t>84 / 82</a:t>
            </a:r>
          </a:p>
        </p:txBody>
      </p:sp>
      <p:sp>
        <p:nvSpPr>
          <p:cNvPr id="8" name="Rectangle 7"/>
          <p:cNvSpPr/>
          <p:nvPr/>
        </p:nvSpPr>
        <p:spPr>
          <a:xfrm>
            <a:off x="637281" y="3773858"/>
            <a:ext cx="23317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rmAutofit lnSpcReduction="10000"/>
          </a:bodyPr>
          <a:lstStyle/>
          <a:p>
            <a:pPr algn="ctr"/>
            <a:r>
              <a:rPr sz="1150" b="0">
                <a:solidFill>
                  <a:srgbClr val="606E76"/>
                </a:solidFill>
                <a:latin typeface="Microsoft YaHei"/>
              </a:rPr>
              <a:t>黑盒用例 / 通过用例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6201" y="3124634"/>
            <a:ext cx="2331720" cy="64008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rmAutofit/>
          </a:bodyPr>
          <a:lstStyle/>
          <a:p>
            <a:pPr algn="ctr"/>
            <a:r>
              <a:rPr sz="2200" b="1">
                <a:solidFill>
                  <a:srgbClr val="15716E"/>
                </a:solidFill>
                <a:latin typeface="Microsoft YaHei"/>
              </a:rPr>
              <a:t>97.62%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6201" y="3773858"/>
            <a:ext cx="23317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rmAutofit lnSpcReduction="10000"/>
          </a:bodyPr>
          <a:lstStyle/>
          <a:p>
            <a:pPr algn="ctr"/>
            <a:r>
              <a:rPr sz="1150" b="0">
                <a:solidFill>
                  <a:srgbClr val="606E76"/>
                </a:solidFill>
                <a:latin typeface="Microsoft YaHei"/>
              </a:rPr>
              <a:t>黑盒测试通过率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5121" y="3124634"/>
            <a:ext cx="2331720" cy="640080"/>
          </a:xfrm>
          <a:prstGeom prst="roundRect">
            <a:avLst/>
          </a:prstGeom>
          <a:solidFill>
            <a:srgbClr val="E4F7F3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rmAutofit/>
          </a:bodyPr>
          <a:lstStyle/>
          <a:p>
            <a:pPr algn="ctr"/>
            <a:r>
              <a:rPr sz="2200" b="1">
                <a:solidFill>
                  <a:srgbClr val="15716E"/>
                </a:solidFill>
                <a:latin typeface="Microsoft YaHei"/>
              </a:rPr>
              <a:t>160 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5121" y="3773858"/>
            <a:ext cx="233172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ctr">
            <a:normAutofit lnSpcReduction="10000"/>
          </a:bodyPr>
          <a:lstStyle/>
          <a:p>
            <a:pPr algn="ctr"/>
            <a:r>
              <a:rPr sz="1150" b="0">
                <a:solidFill>
                  <a:srgbClr val="606E76"/>
                </a:solidFill>
                <a:latin typeface="Microsoft YaHei"/>
              </a:rPr>
              <a:t>推荐流压力请求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1006119"/>
            <a:ext cx="3337560" cy="150876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600" b="1" dirty="0" err="1">
                <a:solidFill>
                  <a:srgbClr val="15716E"/>
                </a:solidFill>
                <a:latin typeface="Microsoft YaHei"/>
              </a:rPr>
              <a:t>测试方案</a:t>
            </a:r>
            <a:endParaRPr sz="1600" b="1" dirty="0">
              <a:solidFill>
                <a:srgbClr val="15716E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70" b="0" dirty="0" err="1">
                <a:solidFill>
                  <a:srgbClr val="243846"/>
                </a:solidFill>
                <a:latin typeface="Microsoft YaHei"/>
              </a:rPr>
              <a:t>黑盒测试：功能</a:t>
            </a:r>
            <a:r>
              <a:rPr sz="1170" b="0" dirty="0">
                <a:solidFill>
                  <a:srgbClr val="243846"/>
                </a:solidFill>
                <a:latin typeface="Microsoft YaHei"/>
              </a:rPr>
              <a:t> / </a:t>
            </a:r>
            <a:r>
              <a:rPr sz="1170" b="0" dirty="0" err="1">
                <a:solidFill>
                  <a:srgbClr val="243846"/>
                </a:solidFill>
                <a:latin typeface="Microsoft YaHei"/>
              </a:rPr>
              <a:t>安全</a:t>
            </a:r>
            <a:r>
              <a:rPr sz="1170" b="0" dirty="0">
                <a:solidFill>
                  <a:srgbClr val="243846"/>
                </a:solidFill>
                <a:latin typeface="Microsoft YaHei"/>
              </a:rPr>
              <a:t> / </a:t>
            </a:r>
            <a:r>
              <a:rPr sz="1170" b="0" dirty="0" err="1">
                <a:solidFill>
                  <a:srgbClr val="243846"/>
                </a:solidFill>
                <a:latin typeface="Microsoft YaHei"/>
              </a:rPr>
              <a:t>异常</a:t>
            </a:r>
            <a:endParaRPr sz="1170" b="0" dirty="0">
              <a:solidFill>
                <a:srgbClr val="243846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70" b="0" dirty="0" err="1">
                <a:solidFill>
                  <a:srgbClr val="243846"/>
                </a:solidFill>
                <a:latin typeface="Microsoft YaHei"/>
              </a:rPr>
              <a:t>压力测试：网关、文章、推荐、当前用户</a:t>
            </a:r>
            <a:endParaRPr sz="1170" b="0" dirty="0">
              <a:solidFill>
                <a:srgbClr val="243846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70" b="0" dirty="0" err="1">
                <a:solidFill>
                  <a:srgbClr val="243846"/>
                </a:solidFill>
                <a:latin typeface="Microsoft YaHei"/>
              </a:rPr>
              <a:t>专项测试：不同画像用户的推荐差异</a:t>
            </a:r>
            <a:endParaRPr sz="1170" b="0" dirty="0">
              <a:solidFill>
                <a:srgbClr val="243846"/>
              </a:solidFill>
              <a:latin typeface="Microsoft YaHe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4613615"/>
            <a:ext cx="3337560" cy="1508760"/>
          </a:xfrm>
          <a:prstGeom prst="roundRect">
            <a:avLst/>
          </a:prstGeom>
          <a:solidFill>
            <a:srgbClr val="F8FCFB"/>
          </a:solidFill>
          <a:ln w="12700">
            <a:solidFill>
              <a:srgbClr val="B3D9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91440" rtlCol="0" anchor="t">
            <a:normAutofit/>
          </a:bodyPr>
          <a:lstStyle/>
          <a:p>
            <a:pPr algn="l"/>
            <a:r>
              <a:rPr sz="1600" b="1" dirty="0" err="1">
                <a:solidFill>
                  <a:srgbClr val="15716E"/>
                </a:solidFill>
                <a:latin typeface="Microsoft YaHei"/>
              </a:rPr>
              <a:t>验证结果</a:t>
            </a:r>
            <a:endParaRPr sz="1600" b="1" dirty="0">
              <a:solidFill>
                <a:srgbClr val="15716E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70" b="0" dirty="0" err="1">
                <a:solidFill>
                  <a:srgbClr val="243846"/>
                </a:solidFill>
                <a:latin typeface="Microsoft YaHei"/>
              </a:rPr>
              <a:t>登录认证、内容发布、审核展示正常</a:t>
            </a:r>
            <a:endParaRPr sz="1170" b="0" dirty="0">
              <a:solidFill>
                <a:srgbClr val="243846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70" b="0" dirty="0" err="1">
                <a:solidFill>
                  <a:srgbClr val="243846"/>
                </a:solidFill>
                <a:latin typeface="Microsoft YaHei"/>
              </a:rPr>
              <a:t>通知互动、聊天和推荐流完成主要流程</a:t>
            </a:r>
            <a:endParaRPr sz="1170" b="0" dirty="0">
              <a:solidFill>
                <a:srgbClr val="243846"/>
              </a:solidFill>
              <a:latin typeface="Microsoft YaHei"/>
            </a:endParaRPr>
          </a:p>
          <a:p>
            <a:pPr>
              <a:lnSpc>
                <a:spcPct val="93000"/>
              </a:lnSpc>
              <a:spcBef>
                <a:spcPts val="300"/>
              </a:spcBef>
            </a:pPr>
            <a:r>
              <a:rPr sz="1170" b="0" dirty="0" err="1">
                <a:solidFill>
                  <a:srgbClr val="243846"/>
                </a:solidFill>
                <a:latin typeface="Microsoft YaHei"/>
              </a:rPr>
              <a:t>管理员审计与运维页面可正常访问</a:t>
            </a:r>
            <a:endParaRPr sz="1170" b="0" dirty="0">
              <a:solidFill>
                <a:srgbClr val="243846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5B9E"/>
          </a:solidFill>
          <a:ln w="12700">
            <a:solidFill>
              <a:srgbClr val="245B9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502920" y="6492240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7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基于微服务的社交平台的设计与实现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" y="384048"/>
            <a:ext cx="10881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100" b="1">
                <a:solidFill>
                  <a:srgbClr val="243846"/>
                </a:solidFill>
                <a:latin typeface="Microsoft YaHei"/>
              </a:rPr>
              <a:t>致谢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96112"/>
            <a:ext cx="10789920" cy="0"/>
          </a:xfrm>
          <a:prstGeom prst="line">
            <a:avLst/>
          </a:prstGeom>
          <a:noFill/>
          <a:ln w="1397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Rectangle 5"/>
          <p:cNvSpPr/>
          <p:nvPr/>
        </p:nvSpPr>
        <p:spPr>
          <a:xfrm>
            <a:off x="1143000" y="3162144"/>
            <a:ext cx="9875520" cy="8229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>
            <a:normAutofit/>
          </a:bodyPr>
          <a:lstStyle/>
          <a:p>
            <a:pPr algn="ctr"/>
            <a:r>
              <a:rPr sz="3400" b="1" dirty="0" err="1">
                <a:solidFill>
                  <a:srgbClr val="15716E"/>
                </a:solidFill>
                <a:latin typeface="Microsoft YaHei"/>
              </a:rPr>
              <a:t>谢谢各位老师</a:t>
            </a:r>
            <a:endParaRPr sz="3400" b="1" dirty="0">
              <a:solidFill>
                <a:srgbClr val="15716E"/>
              </a:solidFill>
              <a:latin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94760" y="4069080"/>
            <a:ext cx="4572000" cy="27432"/>
          </a:xfrm>
          <a:prstGeom prst="rect">
            <a:avLst/>
          </a:prstGeom>
          <a:solidFill>
            <a:srgbClr val="B3D9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73152" rIns="73152" bIns="73152" rtlCol="0" anchor="t">
            <a:normAutofit/>
          </a:bodyPr>
          <a:lstStyle/>
          <a:p>
            <a:pPr algn="l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952</TotalTime>
  <Words>475</Words>
  <Application>Microsoft Office PowerPoint</Application>
  <PresentationFormat>宽屏</PresentationFormat>
  <Paragraphs>165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宋体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基于微服务的社交平台的设计与实现</dc:title>
  <dc:subject>毕业设计答辩</dc:subject>
  <dc:creator>Administrator</dc:creator>
  <cp:lastModifiedBy>08 miniz</cp:lastModifiedBy>
  <cp:revision>9</cp:revision>
  <dcterms:created xsi:type="dcterms:W3CDTF">2026-05-25T12:38:25Z</dcterms:created>
  <dcterms:modified xsi:type="dcterms:W3CDTF">2026-06-04T02:27:15Z</dcterms:modified>
</cp:coreProperties>
</file>