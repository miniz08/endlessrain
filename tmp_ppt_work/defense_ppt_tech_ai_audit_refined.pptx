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4" r:id="rId6"/>
    <p:sldId id="265" r:id="rId7"/>
    <p:sldId id="267" r:id="rId9"/>
    <p:sldId id="268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960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的设计与实现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365760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495604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    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：221404060413</a:t>
            </a:r>
            <a:endParaRPr lang="en-US" sz="1700" dirty="0"/>
          </a:p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计算机科学与技术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6080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HENAN UNIVERSITY OF SCIENCE &amp;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研究背景与课题目标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03504" y="9601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61.56%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用户日常获取信息渠道中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社交平台占比较高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17520" y="336990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高频化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0" y="4065689"/>
            <a:ext cx="2194560" cy="438912"/>
          </a:xfrm>
          <a:prstGeom prst="round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网站系统持续面临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自动化攻击与风险扫描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1600200"/>
            <a:ext cx="0" cy="324612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75320" y="1499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课题目标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029967"/>
            <a:ext cx="3200400" cy="247463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85000" lnSpcReduction="10000"/>
          </a:bodyPr>
          <a:lstStyle/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实现一个基于微服务的社交平台原型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分析嵌入内容发布后的治理流程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将用户行为、内容质量与推荐展示关联起来
</a:t>
            </a:r>
            <a:endParaRPr lang="en-US" sz="1750" dirty="0"/>
          </a:p>
          <a:p>
            <a:r>
              <a:rPr lang="en-US" sz="1750" dirty="0" err="1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requestId 与审计日志保留关键请求与异常线索</a:t>
            </a:r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</a:rPr>
              <a:t>形成可追踪的内容治理闭环</a:t>
            </a:r>
            <a:endParaRPr lang="en-US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465ECE5-815A-D3EF-06AF-8174411BE4BB}"/>
              </a:ext>
            </a:extLst>
          </p:cNvPr>
          <p:cNvSpPr/>
          <p:nvPr/>
        </p:nvSpPr>
        <p:spPr>
          <a:xfrm>
            <a:off x="3177540" y="18265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</a:t>
            </a:r>
            <a:endParaRPr lang="en-US" sz="3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A62B512C-771F-E2C1-0139-9C480C6808E8}"/>
              </a:ext>
            </a:extLst>
          </p:cNvPr>
          <p:cNvSpPr/>
          <p:nvPr/>
        </p:nvSpPr>
        <p:spPr>
          <a:xfrm>
            <a:off x="3177540" y="2395728"/>
            <a:ext cx="1920240" cy="4389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生成式 AI 已降低</a:t>
            </a:r>
            <a:endParaRPr lang="en-US" sz="1350" dirty="0">
              <a:solidFill>
                <a:srgbClr val="506070"/>
              </a:solidFill>
              <a:latin typeface="Microsoft YaHei" pitchFamily="34" charset="0"/>
              <a:ea typeface="Microsoft YaHei" pitchFamily="34" charset="-122"/>
            </a:endParaRPr>
          </a:p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内容生产门槛</a:t>
            </a: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95EA1B8B-4986-91A7-5622-F5A784B0B3DF}"/>
              </a:ext>
            </a:extLst>
          </p:cNvPr>
          <p:cNvSpPr/>
          <p:nvPr/>
        </p:nvSpPr>
        <p:spPr>
          <a:xfrm>
            <a:off x="5440680" y="18630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zh-CN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</a:rPr>
              <a:t>内容治理</a:t>
            </a:r>
            <a:endParaRPr lang="en-US" sz="3000" b="1" dirty="0">
              <a:solidFill>
                <a:srgbClr val="245B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ED22872-7277-3BDA-D028-CFBE39F14673}"/>
              </a:ext>
            </a:extLst>
          </p:cNvPr>
          <p:cNvSpPr/>
          <p:nvPr/>
        </p:nvSpPr>
        <p:spPr>
          <a:xfrm>
            <a:off x="5440680" y="2396412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内容风险</a:t>
            </a:r>
            <a:endParaRPr lang="en-US" sz="1350" dirty="0"/>
          </a:p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虚假、低质与垃圾内容增加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总体架构：技术栈与运行方式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8680" y="93268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80" b="1">
                <a:solidFill>
                  <a:srgbClr val="15716E"/>
                </a:solidFill>
                <a:latin typeface="Microsoft YaHei"/>
              </a:defRPr>
            </a:pPr>
            <a:r>
              <a:t>系统基于 Node.js 技术栈实现，通过 Docker 容器运行，对外由 Nginx / 网关统一承接请求。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前端与入口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1920240"/>
            <a:ext cx="2880359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075688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Nuxt3 / Vue：页面与交互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Nginx：前端容器静态资源与代理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42616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API Gateway：统一 API 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WebSocket：聊天连接代理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572768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后端服务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1920240"/>
            <a:ext cx="2880359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60520" y="2075688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Node.js + Express：服务接口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359152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TypeScript：主要业务代码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642616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http-proxy-middleware：网关转发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92608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express-rate-limit：入口限流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57276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数据与部署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60920" y="1920240"/>
            <a:ext cx="315468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60920" y="2075688"/>
            <a:ext cx="3154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MySQL 5.7.44：longseason 数据库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359152"/>
            <a:ext cx="3154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Prisma：数据访问与表结构映射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642616"/>
            <a:ext cx="3154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Docker / Compose：服务镜像与编排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926080"/>
            <a:ext cx="3154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dotenv：环境变量与模型配置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8680" y="3977639"/>
            <a:ext cx="9738360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4370832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80" b="1">
                <a:solidFill>
                  <a:srgbClr val="15716E"/>
                </a:solidFill>
                <a:latin typeface="Microsoft YaHei"/>
              </a:defRPr>
            </a:pPr>
            <a:r>
              <a:t>请求路径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370832"/>
            <a:ext cx="8138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60" b="0">
                <a:solidFill>
                  <a:srgbClr val="606E76"/>
                </a:solidFill>
                <a:latin typeface="Microsoft YaHei"/>
              </a:defRPr>
            </a:pPr>
            <a:r>
              <a:t>浏览器 -&gt; Nuxt3/Nginx -&gt; api_gateway -&gt; user/blog/ai/chat service -&gt; MySQL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80" b="1">
                <a:solidFill>
                  <a:srgbClr val="15716E"/>
                </a:solidFill>
                <a:latin typeface="Microsoft YaHei"/>
              </a:defRPr>
            </a:pPr>
            <a:r>
              <a:t>追踪方式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4892040"/>
            <a:ext cx="8138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60" b="0">
                <a:solidFill>
                  <a:srgbClr val="606E76"/>
                </a:solidFill>
                <a:latin typeface="Microsoft YaHei"/>
              </a:defRPr>
            </a:pPr>
            <a:r>
              <a:t>网关生成并透传 requestId，业务服务写入推荐记录或审计日志。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431536"/>
            <a:ext cx="9738360" cy="347472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20" b="1">
                <a:solidFill>
                  <a:srgbClr val="15716E"/>
                </a:solidFill>
                <a:latin typeface="Microsoft YaHei"/>
              </a:defRPr>
            </a:pPr>
            <a:r>
              <a:t>讲述重点：技术栈服务于三件事：统一入口、服务隔离、请求可追踪。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 err="1"/>
              <a:t>服务划分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1175657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前端服务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559705"/>
            <a:ext cx="233172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29000" y="1175657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网关中间服务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29000" y="1559705"/>
            <a:ext cx="274320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29400" y="1175657"/>
            <a:ext cx="3429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后端服务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29400" y="1559705"/>
            <a:ext cx="342900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1742585"/>
            <a:ext cx="256032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mofukaze</a:t>
            </a:r>
          </a:p>
          <a:p>
            <a:pPr>
              <a:spcBef>
                <a:spcPts val="400"/>
              </a:spcBef>
              <a:defRPr sz="1130">
                <a:solidFill>
                  <a:srgbClr val="606E76"/>
                </a:solidFill>
                <a:latin typeface="Microsoft YaHei"/>
              </a:defRPr>
            </a:pPr>
            <a:r>
              <a:t>Nuxt3 前端</a:t>
            </a:r>
          </a:p>
          <a:p>
            <a:pPr>
              <a:spcBef>
                <a:spcPts val="400"/>
              </a:spcBef>
              <a:defRPr sz="1130">
                <a:solidFill>
                  <a:srgbClr val="606E76"/>
                </a:solidFill>
                <a:latin typeface="Microsoft YaHei"/>
              </a:defRPr>
            </a:pPr>
            <a:r>
              <a:t>页面展示、发文、通知、私信与运维入口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742585"/>
            <a:ext cx="27432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api_gateway</a:t>
            </a:r>
          </a:p>
          <a:p>
            <a:pPr>
              <a:spcBef>
                <a:spcPts val="400"/>
              </a:spcBef>
              <a:defRPr sz="1110">
                <a:solidFill>
                  <a:srgbClr val="606E76"/>
                </a:solidFill>
                <a:latin typeface="Microsoft YaHei"/>
              </a:defRPr>
            </a:pPr>
            <a:r>
              <a:t>统一 API 入口</a:t>
            </a:r>
          </a:p>
          <a:p>
            <a:pPr>
              <a:spcBef>
                <a:spcPts val="400"/>
              </a:spcBef>
              <a:defRPr sz="1110">
                <a:solidFill>
                  <a:srgbClr val="606E76"/>
                </a:solidFill>
                <a:latin typeface="Microsoft YaHei"/>
              </a:defRPr>
            </a:pPr>
            <a:r>
              <a:t>路由转发、限流、requestId 透传</a:t>
            </a:r>
          </a:p>
          <a:p>
            <a:pPr>
              <a:spcBef>
                <a:spcPts val="400"/>
              </a:spcBef>
              <a:defRPr sz="1110">
                <a:solidFill>
                  <a:srgbClr val="606E76"/>
                </a:solidFill>
                <a:latin typeface="Microsoft YaHei"/>
              </a:defRPr>
            </a:pPr>
            <a:r>
              <a:t>WebSocket 代理与审计查询入口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742585"/>
            <a:ext cx="169164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user_service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注册登录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会话与角色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742585"/>
            <a:ext cx="196596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blog_service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内容互动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推荐与通知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306209"/>
            <a:ext cx="169164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ai_service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评分标签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风险与 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306209"/>
            <a:ext cx="196596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chat_service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私信线程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消息与 WebSocket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1129937"/>
            <a:ext cx="0" cy="361188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00800" y="1129937"/>
            <a:ext cx="0" cy="361188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AI 治理：外部模型如何接入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8680" y="93268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80" b="1">
                <a:solidFill>
                  <a:srgbClr val="15716E"/>
                </a:solidFill>
                <a:latin typeface="Microsoft YaHei"/>
              </a:defRPr>
            </a:pPr>
            <a:r>
              <a:t>AI 服务不直接绑定某个模型，而是用 OpenAI-compatible Provider 封装外部大模型调用。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65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1691640"/>
            <a:ext cx="13258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1">
                <a:solidFill>
                  <a:srgbClr val="243846"/>
                </a:solidFill>
                <a:latin typeface="Microsoft YaHei"/>
              </a:defRPr>
            </a:pPr>
            <a:r>
              <a:t>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691640"/>
            <a:ext cx="80467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60" b="0">
                <a:solidFill>
                  <a:srgbClr val="606E76"/>
                </a:solidFill>
                <a:latin typeface="Microsoft YaHei"/>
              </a:defRPr>
            </a:pPr>
            <a:r>
              <a:t>文章创建后，blog_service 携带内部 token 调用 ai_service；文章先保持待审核。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075688"/>
            <a:ext cx="9646920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221992"/>
            <a:ext cx="365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2221992"/>
            <a:ext cx="13258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1">
                <a:solidFill>
                  <a:srgbClr val="243846"/>
                </a:solidFill>
                <a:latin typeface="Microsoft YaHei"/>
              </a:defRPr>
            </a:pPr>
            <a:r>
              <a:t>构造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221992"/>
            <a:ext cx="80467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60" b="0">
                <a:solidFill>
                  <a:srgbClr val="606E76"/>
                </a:solidFill>
                <a:latin typeface="Microsoft YaHei"/>
              </a:defRPr>
            </a:pPr>
            <a:r>
              <a:t>system 规定审核器角色和 JSON 输出；user 放入任务、schema、标签库和文章内容。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06040"/>
            <a:ext cx="9646920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2752344"/>
            <a:ext cx="365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2752344"/>
            <a:ext cx="13258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1">
                <a:solidFill>
                  <a:srgbClr val="243846"/>
                </a:solidFill>
                <a:latin typeface="Microsoft YaHei"/>
              </a:defRPr>
            </a:pPr>
            <a:r>
              <a:t>兼容请求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752344"/>
            <a:ext cx="80467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60" b="0">
                <a:solidFill>
                  <a:srgbClr val="606E76"/>
                </a:solidFill>
                <a:latin typeface="Microsoft YaHei"/>
              </a:defRPr>
            </a:pPr>
            <a:r>
              <a:t>按 OpenAI-compatible 风格 POST /chat/completions，body 包含 model、messages、temperature、response_format。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3136392"/>
            <a:ext cx="9646920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282696"/>
            <a:ext cx="365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282696"/>
            <a:ext cx="13258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1">
                <a:solidFill>
                  <a:srgbClr val="243846"/>
                </a:solidFill>
                <a:latin typeface="Microsoft YaHei"/>
              </a:defRPr>
            </a:pPr>
            <a:r>
              <a:t>轮询 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282696"/>
            <a:ext cx="80467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60" b="0">
                <a:solidFill>
                  <a:srgbClr val="606E76"/>
                </a:solidFill>
                <a:latin typeface="Microsoft YaHei"/>
              </a:defRPr>
            </a:pPr>
            <a:r>
              <a:t>从环境变量读取多个国内模型商配置，失败时切换下一个目标或模型。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3666744"/>
            <a:ext cx="9646920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3813048"/>
            <a:ext cx="365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3813048"/>
            <a:ext cx="13258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1">
                <a:solidFill>
                  <a:srgbClr val="243846"/>
                </a:solidFill>
                <a:latin typeface="Microsoft YaHei"/>
              </a:defRPr>
            </a:pPr>
            <a:r>
              <a:t>解析规范化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813048"/>
            <a:ext cx="80467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60" b="0">
                <a:solidFill>
                  <a:srgbClr val="606E76"/>
                </a:solidFill>
                <a:latin typeface="Microsoft YaHei"/>
              </a:defRPr>
            </a:pPr>
            <a:r>
              <a:t>解析模型 JSON，规范化四项评分，校验标签来自预设标签库。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4197096"/>
            <a:ext cx="9646920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4343400"/>
            <a:ext cx="365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5024" y="4343400"/>
            <a:ext cx="13258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1">
                <a:solidFill>
                  <a:srgbClr val="243846"/>
                </a:solidFill>
                <a:latin typeface="Microsoft YaHei"/>
              </a:defRPr>
            </a:pPr>
            <a:r>
              <a:t>落库使用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343400"/>
            <a:ext cx="80467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60" b="0">
                <a:solidFill>
                  <a:srgbClr val="606E76"/>
                </a:solidFill>
                <a:latin typeface="Microsoft YaHei"/>
              </a:defRPr>
            </a:pPr>
            <a:r>
              <a:t>写入 AI 分析表与标签关系表，并更新文章状态、风险等级和审核建议。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4727448"/>
            <a:ext cx="9646920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14400" y="5074920"/>
            <a:ext cx="4709160" cy="530352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40" b="1">
                <a:solidFill>
                  <a:srgbClr val="15716E"/>
                </a:solidFill>
                <a:latin typeface="Microsoft YaHei"/>
              </a:defRPr>
            </a:pPr>
            <a:r>
              <a:t>message 语义：不是自由聊天，而是“内容审核任务 + 输出格式约束”。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5074920"/>
            <a:ext cx="4709160" cy="530352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40" b="1">
                <a:solidFill>
                  <a:srgbClr val="15716E"/>
                </a:solidFill>
                <a:latin typeface="Microsoft YaHei"/>
              </a:defRPr>
            </a:pPr>
            <a:r>
              <a:t>失败策略：外部模型异常时保守降级，文章进入 REVIEW_REQUIRED。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推荐机制：AI 分析与用户画像共同作用</a:t>
            </a:r>
            <a:endParaRPr lang="en-US" altLang="zh-CN" sz="2100" b="1" dirty="0">
              <a:solidFill>
                <a:srgbClr val="24384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推荐不是单独的公式，而是内容侧信号与兴趣侧信号共同进入排序。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40" b="1">
                <a:solidFill>
                  <a:srgbClr val="15716E"/>
                </a:solidFill>
                <a:latin typeface="Microsoft YaHei"/>
              </a:defRPr>
            </a:pPr>
            <a:r>
              <a:t>AI 分析提供内容侧信号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1920240"/>
            <a:ext cx="306324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075688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AI 标签：用于和 tagVector 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四项评分：参与内容质量分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42616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合法性分：参与风险过滤与惩罚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文章状态：决定能否进入候选池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57276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40" b="1">
                <a:solidFill>
                  <a:srgbClr val="15716E"/>
                </a:solidFill>
                <a:latin typeface="Microsoft YaHei"/>
              </a:defRPr>
            </a:pPr>
            <a:r>
              <a:t>用户画像提供兴趣侧信号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43800" y="1920240"/>
            <a:ext cx="306324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43800" y="2075688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reco_event 记录用户行为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359152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最近 90 天、最多 500 条事件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642616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生成 tagVector 与 authorAffinity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92608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旧行为按时间衰减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7952" y="1755648"/>
            <a:ext cx="2971800" cy="1417320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10" b="1">
                <a:solidFill>
                  <a:srgbClr val="15716E"/>
                </a:solidFill>
                <a:latin typeface="Microsoft YaHei"/>
              </a:defRPr>
            </a:pPr>
            <a:r>
              <a:t>推荐总分</a:t>
            </a:r>
            <a:br/>
            <a:r>
              <a:t>tagMatch * 4 + authorAffinity * 2</a:t>
            </a:r>
            <a:br/>
            <a:r>
              <a:t>+ authorQuality * 1.2 + contentQuality + freshness</a:t>
            </a:r>
            <a:br/>
            <a:r>
              <a:t>- riskPenalty - seenPenalty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7" y="3319272"/>
            <a:ext cx="3154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先过滤可展示候选，再在候选池中排序。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3822191"/>
            <a:ext cx="9829800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4069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20" b="1">
                <a:solidFill>
                  <a:srgbClr val="15716E"/>
                </a:solidFill>
                <a:latin typeface="Microsoft YaHei"/>
              </a:defRPr>
            </a:pPr>
            <a:r>
              <a:t>推荐闭环流程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80560"/>
            <a:ext cx="3108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4480560"/>
            <a:ext cx="1143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43846"/>
                </a:solidFill>
                <a:latin typeface="Microsoft YaHei"/>
              </a:defRPr>
            </a:pPr>
            <a:r>
              <a:t>候选过滤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480560"/>
            <a:ext cx="3429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0">
                <a:solidFill>
                  <a:srgbClr val="606E76"/>
                </a:solidFill>
                <a:latin typeface="Microsoft YaHei"/>
              </a:defRPr>
            </a:pPr>
            <a:r>
              <a:t>PUBLISHED / LOW_PRIORITY 且 legalityScore &gt;= 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764024"/>
            <a:ext cx="3108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7592" y="4764024"/>
            <a:ext cx="1143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43846"/>
                </a:solidFill>
                <a:latin typeface="Microsoft YaHei"/>
              </a:defRPr>
            </a:pPr>
            <a:r>
              <a:t>读取信号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764024"/>
            <a:ext cx="3429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0">
                <a:solidFill>
                  <a:srgbClr val="606E76"/>
                </a:solidFill>
                <a:latin typeface="Microsoft YaHei"/>
              </a:defRPr>
            </a:pPr>
            <a:r>
              <a:t>AI 标签与评分 + 用户画像 + 14 天统计 + 已看记录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047488"/>
            <a:ext cx="3108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5047488"/>
            <a:ext cx="1143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43846"/>
                </a:solidFill>
                <a:latin typeface="Microsoft YaHei"/>
              </a:defRPr>
            </a:pPr>
            <a:r>
              <a:t>计算排序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047488"/>
            <a:ext cx="3429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0">
                <a:solidFill>
                  <a:srgbClr val="606E76"/>
                </a:solidFill>
                <a:latin typeface="Microsoft YaHei"/>
              </a:defRPr>
            </a:pPr>
            <a:r>
              <a:t>公式得到 total score，输出推荐列表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330951"/>
            <a:ext cx="3108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07592" y="5330951"/>
            <a:ext cx="1143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43846"/>
                </a:solidFill>
                <a:latin typeface="Microsoft YaHei"/>
              </a:defRPr>
            </a:pPr>
            <a:r>
              <a:t>行为回写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330951"/>
            <a:ext cx="3429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0">
                <a:solidFill>
                  <a:srgbClr val="606E76"/>
                </a:solidFill>
                <a:latin typeface="Microsoft YaHei"/>
              </a:defRPr>
            </a:pPr>
            <a:r>
              <a:t>曝光、点击、停留、点赞、评论、隐藏、举报写入 reco_event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614415"/>
            <a:ext cx="3108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7592" y="5614415"/>
            <a:ext cx="1143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43846"/>
                </a:solidFill>
                <a:latin typeface="Microsoft YaHei"/>
              </a:defRPr>
            </a:pPr>
            <a:r>
              <a:t>画像刷新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614415"/>
            <a:ext cx="3429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0">
                <a:solidFill>
                  <a:srgbClr val="606E76"/>
                </a:solidFill>
                <a:latin typeface="Microsoft YaHei"/>
              </a:defRPr>
            </a:pPr>
            <a:r>
              <a:t>更新 tagVector / authorAffinity，影响下一次推荐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4736592"/>
            <a:ext cx="4480560" cy="530352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60" b="1">
                <a:solidFill>
                  <a:srgbClr val="15716E"/>
                </a:solidFill>
                <a:latin typeface="Microsoft YaHei"/>
              </a:defRPr>
            </a:pPr>
            <a:r>
              <a:t>关键表达：AI 决定内容质量与风险，画像决定用户兴趣，两者共同决定排序。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安全审计：从方案到追踪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8680" y="932688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80" b="1">
                <a:solidFill>
                  <a:srgbClr val="15716E"/>
                </a:solidFill>
                <a:latin typeface="Microsoft YaHei"/>
              </a:defRPr>
            </a:pPr>
            <a:r>
              <a:t>审计不是单独展示日志，而是设计一条能定位请求、记录行为、支持查询的证据链。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审计方案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002536"/>
            <a:ext cx="256032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2231136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网关生成 requestId 并透传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业务服务做角色与资源归属校验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9504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关键动作统一写 audit_log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管理员通过运维页查询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62763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执行写入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2002536"/>
            <a:ext cx="256032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60520" y="2231136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登录、退出、注册等身份动作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56032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发文、删除、评论、关注等业务动作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889504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AI 分析与管理员查询动作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218688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聊天与异常请求记录状态码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62763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追踪结果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52360" y="2002536"/>
            <a:ext cx="256032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52360" y="2231136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按 requestId 定位一次请求链路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56032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按用户、路径、动作和状态码筛查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889504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运维页展示审计列表与摘要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218688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异常时可回到具体服务排查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950208"/>
            <a:ext cx="9646920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0120" y="4370832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5716E"/>
                </a:solidFill>
                <a:latin typeface="Microsoft YaHei"/>
              </a:defRPr>
            </a:pPr>
            <a:r>
              <a:t>requestId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36592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60" b="0">
                <a:solidFill>
                  <a:srgbClr val="606E76"/>
                </a:solidFill>
                <a:latin typeface="Microsoft YaHei"/>
              </a:defRPr>
            </a:pPr>
            <a:r>
              <a:t>请求追踪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370832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5716E"/>
                </a:solidFill>
                <a:latin typeface="Microsoft YaHei"/>
              </a:defRPr>
            </a:pPr>
            <a:r>
              <a:t>audit_log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736592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60" b="0">
                <a:solidFill>
                  <a:srgbClr val="606E76"/>
                </a:solidFill>
                <a:latin typeface="Microsoft YaHei"/>
              </a:defRPr>
            </a:pPr>
            <a:r>
              <a:t>行为证据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4370832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5716E"/>
                </a:solidFill>
                <a:latin typeface="Microsoft YaHei"/>
              </a:defRPr>
            </a:pPr>
            <a:r>
              <a:t>运维页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4736592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60" b="0">
                <a:solidFill>
                  <a:srgbClr val="606E76"/>
                </a:solidFill>
                <a:latin typeface="Microsoft YaHei"/>
              </a:defRPr>
            </a:pPr>
            <a:r>
              <a:t>查询入口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370832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5716E"/>
                </a:solidFill>
                <a:latin typeface="Microsoft YaHei"/>
              </a:defRPr>
            </a:pPr>
            <a:r>
              <a:t>状态码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736592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60" b="0">
                <a:solidFill>
                  <a:srgbClr val="606E76"/>
                </a:solidFill>
                <a:latin typeface="Microsoft YaHei"/>
              </a:defRPr>
            </a:pPr>
            <a:r>
              <a:t>结果定位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340096"/>
            <a:ext cx="9738360" cy="384048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60" b="1">
                <a:solidFill>
                  <a:srgbClr val="15716E"/>
                </a:solidFill>
                <a:latin typeface="Microsoft YaHei"/>
              </a:defRPr>
            </a:pPr>
            <a:r>
              <a:t>讲述重点：审计闭环 = 入口标识 -&gt; 业务写入 -&gt; 管理查询 -&gt; 异常定位。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系统测试：从方案到结果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20" b="1">
                <a:solidFill>
                  <a:srgbClr val="15716E"/>
                </a:solidFill>
                <a:latin typeface="Microsoft YaHei"/>
              </a:defRPr>
            </a:pPr>
            <a:r>
              <a:t>测试页按执行过程讲：先说明怎么测，再说明发现了什么，最后说明复验结果。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测试方案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039112"/>
            <a:ext cx="246888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2267712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综合黑盒：功能 / 安全 / 异常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压力测试：网关、文章、推荐、当前用户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推荐专项：构造不同画像用户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55264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修复复验：针对已发现缺陷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66420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执行发现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2039112"/>
            <a:ext cx="246888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60520" y="226771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84 项黑盒用例，通过 82 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596896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发现注册角色提权风险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926080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发现 WebSocket 网关转发问题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255264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发现推荐并发写入冲突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66420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测试结果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79" y="2039112"/>
            <a:ext cx="246888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8079" y="2267712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定向复验 7 / 7 通过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596896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推荐专项 13 / 13 通过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92608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推荐并发复验 160 次 / 16 并发全 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255264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结论：原型闭环可验证，不夸大为生产容量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968496"/>
            <a:ext cx="9692640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05840" y="4343400"/>
            <a:ext cx="18745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5716E"/>
                </a:solidFill>
                <a:latin typeface="Microsoft YaHei"/>
              </a:defRPr>
            </a:pPr>
            <a:r>
              <a:t>84 / 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709160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606E76"/>
                </a:solidFill>
                <a:latin typeface="Microsoft YaHei"/>
              </a:defRPr>
            </a:pPr>
            <a:r>
              <a:t>综合黑盒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343400"/>
            <a:ext cx="18745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5716E"/>
                </a:solidFill>
                <a:latin typeface="Microsoft YaHei"/>
              </a:defRPr>
            </a:pPr>
            <a:r>
              <a:t>7 /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709160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606E76"/>
                </a:solidFill>
                <a:latin typeface="Microsoft YaHei"/>
              </a:defRPr>
            </a:pPr>
            <a:r>
              <a:t>修复复验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343400"/>
            <a:ext cx="18745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5716E"/>
                </a:solidFill>
                <a:latin typeface="Microsoft YaHei"/>
              </a:defRPr>
            </a:pPr>
            <a:r>
              <a:t>13 /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709160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606E76"/>
                </a:solidFill>
                <a:latin typeface="Microsoft YaHei"/>
              </a:defRPr>
            </a:pPr>
            <a:r>
              <a:t>推荐专项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343400"/>
            <a:ext cx="18745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5716E"/>
                </a:solidFill>
                <a:latin typeface="Microsoft YaHei"/>
              </a:defRPr>
            </a:pPr>
            <a:r>
              <a:t>160 /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709160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606E76"/>
                </a:solidFill>
                <a:latin typeface="Microsoft YaHei"/>
              </a:defRPr>
            </a:pPr>
            <a:r>
              <a:t>推荐并发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349240"/>
            <a:ext cx="9738360" cy="384048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60" b="1">
                <a:solidFill>
                  <a:srgbClr val="15716E"/>
                </a:solidFill>
                <a:latin typeface="Microsoft YaHei"/>
              </a:defRPr>
            </a:pPr>
            <a:r>
              <a:t>讲述重点：测试形成了“方案设计 -&gt; 执行发现 -&gt; 修复复验 -&gt; 结论边界”的闭环。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 err="1"/>
              <a:t>致谢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341120" y="3145536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5716E"/>
                </a:solidFill>
                <a:latin typeface="Microsoft YaHei"/>
              </a:defRPr>
            </a:pPr>
            <a:r>
              <a:rPr dirty="0" err="1"/>
              <a:t>谢谢各位老师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514</Words>
  <Application>Microsoft Office PowerPoint</Application>
  <PresentationFormat>宽屏</PresentationFormat>
  <Paragraphs>158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宋体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基于微服务的社交平台的设计与实现</dc:title>
  <dc:subject>毕业设计答辩</dc:subject>
  <dc:creator>Administrator</dc:creator>
  <cp:lastModifiedBy>08 miniz</cp:lastModifiedBy>
  <cp:revision>11</cp:revision>
  <dcterms:created xsi:type="dcterms:W3CDTF">2026-05-25T12:38:25Z</dcterms:created>
  <dcterms:modified xsi:type="dcterms:W3CDTF">2026-06-04T04:52:16Z</dcterms:modified>
</cp:coreProperties>
</file>