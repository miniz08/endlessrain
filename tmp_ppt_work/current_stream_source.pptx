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60" r:id="rId4"/>
    <p:sldId id="261" r:id="rId5"/>
    <p:sldId id="264" r:id="rId6"/>
    <p:sldId id="265" r:id="rId7"/>
    <p:sldId id="266" r:id="rId8"/>
    <p:sldId id="267" r:id="rId9"/>
    <p:sldId id="268" r:id="rId10"/>
    <p:sldId id="269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45B9E"/>
          </a:solidFill>
          <a:ln w="12700">
            <a:solidFill>
              <a:srgbClr val="245B9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77240" y="6583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45B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毕业设计答辩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77240" y="1417320"/>
            <a:ext cx="96012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2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基于微服务的社交平台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的设计与实现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777240" y="2971800"/>
            <a:ext cx="3657600" cy="0"/>
          </a:xfrm>
          <a:prstGeom prst="line">
            <a:avLst/>
          </a:prstGeom>
          <a:noFill/>
          <a:ln w="25400">
            <a:solidFill>
              <a:srgbClr val="245B9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804672" y="4956048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 err="1">
                <a:solidFill>
                  <a:srgbClr val="50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答辩人</a:t>
            </a:r>
            <a:r>
              <a:rPr lang="en-US" sz="1700">
                <a:solidFill>
                  <a:srgbClr val="50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    </a:t>
            </a:r>
            <a:r>
              <a:rPr lang="en-US" sz="1700" dirty="0">
                <a:solidFill>
                  <a:srgbClr val="50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学号</a:t>
            </a:r>
            <a:r>
              <a:rPr lang="en-US" sz="1700">
                <a:solidFill>
                  <a:srgbClr val="50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：221404060413</a:t>
            </a:r>
            <a:endParaRPr lang="en-US" sz="1700" dirty="0"/>
          </a:p>
          <a:p>
            <a:pPr marL="0" indent="0">
              <a:buNone/>
            </a:pPr>
            <a:r>
              <a:rPr lang="en-US" sz="1700" dirty="0" err="1">
                <a:solidFill>
                  <a:srgbClr val="50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</a:t>
            </a:r>
            <a:r>
              <a:rPr lang="en-US" sz="1700" dirty="0">
                <a:solidFill>
                  <a:srgbClr val="50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  <a:r>
              <a:rPr lang="zh-CN" altLang="en-US" sz="1700" dirty="0">
                <a:solidFill>
                  <a:srgbClr val="50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计算机科学与技术</a:t>
            </a:r>
            <a:r>
              <a:rPr lang="en-US" sz="1700" dirty="0">
                <a:solidFill>
                  <a:srgbClr val="50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</a:t>
            </a:r>
            <a:r>
              <a:rPr lang="en-US" sz="1700" dirty="0" err="1">
                <a:solidFill>
                  <a:srgbClr val="50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指导教师</a:t>
            </a:r>
            <a:r>
              <a:rPr lang="en-US" sz="1700" dirty="0">
                <a:solidFill>
                  <a:srgbClr val="50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  <a:r>
              <a:rPr lang="zh-CN" altLang="en-US" sz="1700" dirty="0">
                <a:solidFill>
                  <a:srgbClr val="50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张蕾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04672" y="6080760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87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HENAN UNIVERSITY OF SCIENCE &amp; TECHNOLOGY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45B9E"/>
          </a:solidFill>
          <a:ln w="12700">
            <a:solidFill>
              <a:srgbClr val="245B9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02920" y="6492240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7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基于微服务的社交平台的设计与实现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384048"/>
            <a:ext cx="10881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研究背景与课题目标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94360" y="896112"/>
            <a:ext cx="10789920" cy="0"/>
          </a:xfrm>
          <a:prstGeom prst="line">
            <a:avLst/>
          </a:prstGeom>
          <a:noFill/>
          <a:ln w="13970">
            <a:solidFill>
              <a:srgbClr val="D9E1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603504" y="96012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68680" y="184708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45B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61.56%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868680" y="2395728"/>
            <a:ext cx="1920240" cy="438912"/>
          </a:xfrm>
          <a:prstGeom prst="roundRect">
            <a:avLst/>
          </a:prstGeom>
          <a:solidFill>
            <a:srgbClr val="EAF2FF"/>
          </a:solidFill>
          <a:ln>
            <a:solidFill>
              <a:srgbClr val="EAF2FF"/>
            </a:solidFill>
          </a:ln>
        </p:spPr>
        <p:txBody>
          <a:bodyPr wrap="square" lIns="254" tIns="254" rIns="254" bIns="254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50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用户日常获取信息渠道中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dirty="0">
                <a:solidFill>
                  <a:srgbClr val="50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社交平台占比较高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017520" y="3369906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B5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高频化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017520" y="4065689"/>
            <a:ext cx="2194560" cy="438912"/>
          </a:xfrm>
          <a:prstGeom prst="roundRect">
            <a:avLst/>
          </a:prstGeom>
          <a:solidFill>
            <a:srgbClr val="FFF0F0"/>
          </a:solidFill>
          <a:ln>
            <a:solidFill>
              <a:srgbClr val="FFF0F0"/>
            </a:solidFill>
          </a:ln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50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网站系统持续面临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dirty="0">
                <a:solidFill>
                  <a:srgbClr val="50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自动化攻击与风险扫描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818120" y="1600200"/>
            <a:ext cx="0" cy="3246120"/>
          </a:xfrm>
          <a:prstGeom prst="line">
            <a:avLst/>
          </a:prstGeom>
          <a:noFill/>
          <a:ln w="13970">
            <a:solidFill>
              <a:srgbClr val="D9E1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8275320" y="14992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45B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课题目标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75320" y="2029967"/>
            <a:ext cx="3200400" cy="2474633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 fontScale="85000" lnSpcReduction="10000"/>
          </a:bodyPr>
          <a:lstStyle/>
          <a:p>
            <a:r>
              <a:rPr lang="en-US" sz="175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实现一个基于微服务的社交平台原型
</a:t>
            </a:r>
            <a:endParaRPr lang="en-US" sz="1750" dirty="0"/>
          </a:p>
          <a:p>
            <a:r>
              <a:rPr lang="en-US" sz="175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 AI 分析嵌入内容发布后的治理流程
</a:t>
            </a:r>
            <a:endParaRPr lang="en-US" sz="1750" dirty="0"/>
          </a:p>
          <a:p>
            <a:r>
              <a:rPr lang="en-US" sz="175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将用户行为、内容质量与推荐展示关联起来
</a:t>
            </a:r>
            <a:endParaRPr lang="en-US" sz="1750" dirty="0"/>
          </a:p>
          <a:p>
            <a:r>
              <a:rPr lang="en-US" sz="1750" dirty="0" err="1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 requestId 与审计日志保留关键请求与异常线索</a:t>
            </a:r>
            <a:endParaRPr lang="en-US" sz="1750" dirty="0">
              <a:solidFill>
                <a:srgbClr val="172033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endParaRPr lang="en-US" sz="1750" dirty="0">
              <a:solidFill>
                <a:srgbClr val="172033"/>
              </a:solidFill>
              <a:latin typeface="Microsoft YaHei" pitchFamily="34" charset="0"/>
              <a:ea typeface="Microsoft YaHei" pitchFamily="34" charset="-122"/>
            </a:endParaRPr>
          </a:p>
          <a:p>
            <a:r>
              <a:rPr lang="zh-CN" altLang="en-US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</a:rPr>
              <a:t>形成可追踪的内容治理闭环</a:t>
            </a:r>
            <a:endParaRPr lang="en-US" dirty="0">
              <a:solidFill>
                <a:srgbClr val="172033"/>
              </a:solidFill>
              <a:latin typeface="Microsoft YaHei" pitchFamily="34" charset="0"/>
              <a:ea typeface="Microsoft YaHei" pitchFamily="34" charset="-122"/>
            </a:endParaRPr>
          </a:p>
        </p:txBody>
      </p:sp>
      <p:sp>
        <p:nvSpPr>
          <p:cNvPr id="16" name="Text 5">
            <a:extLst>
              <a:ext uri="{FF2B5EF4-FFF2-40B4-BE49-F238E27FC236}">
                <a16:creationId xmlns:a16="http://schemas.microsoft.com/office/drawing/2014/main" id="{8465ECE5-815A-D3EF-06AF-8174411BE4BB}"/>
              </a:ext>
            </a:extLst>
          </p:cNvPr>
          <p:cNvSpPr/>
          <p:nvPr/>
        </p:nvSpPr>
        <p:spPr>
          <a:xfrm>
            <a:off x="3177540" y="182659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AIGC</a:t>
            </a:r>
            <a:endParaRPr lang="en-US" sz="30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7" name="Text 6">
            <a:extLst>
              <a:ext uri="{FF2B5EF4-FFF2-40B4-BE49-F238E27FC236}">
                <a16:creationId xmlns:a16="http://schemas.microsoft.com/office/drawing/2014/main" id="{A62B512C-771F-E2C1-0139-9C480C6808E8}"/>
              </a:ext>
            </a:extLst>
          </p:cNvPr>
          <p:cNvSpPr/>
          <p:nvPr/>
        </p:nvSpPr>
        <p:spPr>
          <a:xfrm>
            <a:off x="3177540" y="2395728"/>
            <a:ext cx="1920240" cy="43891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EAF2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>
              <a:defRPr sz="1150" b="0">
                <a:solidFill>
                  <a:srgbClr val="606E76"/>
                </a:solidFill>
                <a:latin typeface="Microsoft YaHei"/>
              </a:defRPr>
            </a:pPr>
            <a:r>
              <a:t>生成式 AI 已降低</a:t>
            </a:r>
            <a:endParaRPr lang="en-US" sz="1350" dirty="0">
              <a:solidFill>
                <a:srgbClr val="506070"/>
              </a:solidFill>
              <a:latin typeface="Microsoft YaHei" pitchFamily="34" charset="0"/>
              <a:ea typeface="Microsoft YaHei" pitchFamily="34" charset="-122"/>
            </a:endParaRPr>
          </a:p>
          <a:p>
            <a:pPr algn="ctr">
              <a:defRPr sz="1150" b="0">
                <a:solidFill>
                  <a:srgbClr val="606E76"/>
                </a:solidFill>
                <a:latin typeface="Microsoft YaHei"/>
              </a:defRPr>
            </a:pPr>
            <a:r>
              <a:t>内容生产门槛</a:t>
            </a:r>
          </a:p>
        </p:txBody>
      </p:sp>
      <p:sp>
        <p:nvSpPr>
          <p:cNvPr id="18" name="Text 5">
            <a:extLst>
              <a:ext uri="{FF2B5EF4-FFF2-40B4-BE49-F238E27FC236}">
                <a16:creationId xmlns:a16="http://schemas.microsoft.com/office/drawing/2014/main" id="{95EA1B8B-4986-91A7-5622-F5A784B0B3DF}"/>
              </a:ext>
            </a:extLst>
          </p:cNvPr>
          <p:cNvSpPr/>
          <p:nvPr/>
        </p:nvSpPr>
        <p:spPr>
          <a:xfrm>
            <a:off x="5440680" y="186309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zh-CN" altLang="zh-CN" sz="3000" b="1" dirty="0">
                <a:solidFill>
                  <a:srgbClr val="245B9E"/>
                </a:solidFill>
                <a:latin typeface="Microsoft YaHei" pitchFamily="34" charset="0"/>
                <a:ea typeface="Microsoft YaHei" pitchFamily="34" charset="-122"/>
              </a:rPr>
              <a:t>内容治理</a:t>
            </a:r>
            <a:endParaRPr lang="en-US" sz="3000" b="1" dirty="0">
              <a:solidFill>
                <a:srgbClr val="245B9E"/>
              </a:solidFill>
              <a:latin typeface="Microsoft YaHei" pitchFamily="34" charset="0"/>
              <a:ea typeface="Microsoft YaHei" pitchFamily="34" charset="-122"/>
            </a:endParaRPr>
          </a:p>
        </p:txBody>
      </p:sp>
      <p:sp>
        <p:nvSpPr>
          <p:cNvPr id="19" name="Text 6">
            <a:extLst>
              <a:ext uri="{FF2B5EF4-FFF2-40B4-BE49-F238E27FC236}">
                <a16:creationId xmlns:a16="http://schemas.microsoft.com/office/drawing/2014/main" id="{DED22872-7277-3BDA-D028-CFBE39F14673}"/>
              </a:ext>
            </a:extLst>
          </p:cNvPr>
          <p:cNvSpPr/>
          <p:nvPr/>
        </p:nvSpPr>
        <p:spPr>
          <a:xfrm>
            <a:off x="5440680" y="2396412"/>
            <a:ext cx="1920240" cy="438912"/>
          </a:xfrm>
          <a:prstGeom prst="roundRect">
            <a:avLst/>
          </a:prstGeom>
          <a:solidFill>
            <a:srgbClr val="EAF2FF"/>
          </a:solidFill>
          <a:ln>
            <a:solidFill>
              <a:srgbClr val="EAF2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  <a:defRPr sz="1150" b="0">
                <a:solidFill>
                  <a:srgbClr val="606E76"/>
                </a:solidFill>
                <a:latin typeface="Microsoft YaHei"/>
              </a:defRPr>
            </a:pPr>
            <a:r>
              <a:t>内容风险</a:t>
            </a:r>
            <a:endParaRPr lang="en-US" sz="1350" dirty="0"/>
          </a:p>
          <a:p>
            <a:pPr algn="ctr">
              <a:defRPr sz="1150" b="0">
                <a:solidFill>
                  <a:srgbClr val="606E76"/>
                </a:solidFill>
                <a:latin typeface="Microsoft YaHei"/>
              </a:defRPr>
            </a:pPr>
            <a:r>
              <a:t>虚假、低质与垃圾内容增加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45B9E"/>
          </a:solidFill>
          <a:ln w="12700">
            <a:solidFill>
              <a:srgbClr val="245B9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02920" y="6492240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7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基于微服务的社交平台的设计与实现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384048"/>
            <a:ext cx="10881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 sz="2100" b="1">
                <a:solidFill>
                  <a:srgbClr val="243846"/>
                </a:solidFill>
                <a:latin typeface="Microsoft YaHei"/>
              </a:defRPr>
            </a:pPr>
            <a:r>
              <a:rPr dirty="0" err="1"/>
              <a:t>总体架构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94360" y="896112"/>
            <a:ext cx="10789920" cy="0"/>
          </a:xfrm>
          <a:prstGeom prst="line">
            <a:avLst/>
          </a:prstGeom>
          <a:noFill/>
          <a:ln w="13970">
            <a:solidFill>
              <a:srgbClr val="D9E1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Box 6"/>
          <p:cNvSpPr txBox="1"/>
          <p:nvPr/>
        </p:nvSpPr>
        <p:spPr>
          <a:xfrm>
            <a:off x="914400" y="1792224"/>
            <a:ext cx="187451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50" b="1">
                <a:solidFill>
                  <a:srgbClr val="15716E"/>
                </a:solidFill>
                <a:latin typeface="Microsoft YaHei"/>
              </a:defRPr>
            </a:pPr>
            <a:r>
              <a:t>客户端与前端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792224"/>
            <a:ext cx="8046720" cy="29546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20" b="0">
                <a:solidFill>
                  <a:srgbClr val="606E76"/>
                </a:solidFill>
                <a:latin typeface="Microsoft YaHei"/>
              </a:defRPr>
            </a:pPr>
            <a:r>
              <a:rPr dirty="0" err="1"/>
              <a:t>浏览器访问</a:t>
            </a:r>
            <a:r>
              <a:rPr dirty="0"/>
              <a:t> Nuxt3 </a:t>
            </a:r>
            <a:r>
              <a:rPr dirty="0" err="1"/>
              <a:t>前端；前端负责页面展示、交互和调用</a:t>
            </a:r>
            <a:r>
              <a:rPr dirty="0"/>
              <a:t> API。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914400" y="2212848"/>
            <a:ext cx="9966960" cy="0"/>
          </a:xfrm>
          <a:prstGeom prst="line">
            <a:avLst/>
          </a:prstGeom>
          <a:ln w="15240">
            <a:solidFill>
              <a:srgbClr val="B3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914400" y="2578608"/>
            <a:ext cx="187451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50" b="1">
                <a:solidFill>
                  <a:srgbClr val="15716E"/>
                </a:solidFill>
                <a:latin typeface="Microsoft YaHei"/>
              </a:defRPr>
            </a:pPr>
            <a:r>
              <a:t>网关中间层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2578608"/>
            <a:ext cx="8046720" cy="29546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20" b="0">
                <a:solidFill>
                  <a:srgbClr val="606E76"/>
                </a:solidFill>
                <a:latin typeface="Microsoft YaHei"/>
              </a:defRPr>
            </a:pPr>
            <a:r>
              <a:rPr dirty="0" err="1"/>
              <a:t>api_gateway</a:t>
            </a:r>
            <a:r>
              <a:rPr dirty="0"/>
              <a:t> </a:t>
            </a:r>
            <a:r>
              <a:rPr dirty="0" err="1"/>
              <a:t>统一转发到后端服务，并处理限流、requestId</a:t>
            </a:r>
            <a:r>
              <a:rPr dirty="0"/>
              <a:t> </a:t>
            </a:r>
            <a:r>
              <a:rPr dirty="0" err="1"/>
              <a:t>透传和</a:t>
            </a:r>
            <a:r>
              <a:rPr dirty="0"/>
              <a:t> WebSocket </a:t>
            </a:r>
            <a:r>
              <a:rPr dirty="0" err="1"/>
              <a:t>代理</a:t>
            </a:r>
            <a:r>
              <a:rPr dirty="0"/>
              <a:t>。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14400" y="2999232"/>
            <a:ext cx="9966960" cy="0"/>
          </a:xfrm>
          <a:prstGeom prst="line">
            <a:avLst/>
          </a:prstGeom>
          <a:ln w="15240">
            <a:solidFill>
              <a:srgbClr val="B3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914400" y="3364991"/>
            <a:ext cx="187451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50" b="1">
                <a:solidFill>
                  <a:srgbClr val="15716E"/>
                </a:solidFill>
                <a:latin typeface="Microsoft YaHei"/>
              </a:defRPr>
            </a:pPr>
            <a:r>
              <a:t>业务服务层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3364991"/>
            <a:ext cx="8046720" cy="4985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20" b="0">
                <a:solidFill>
                  <a:srgbClr val="606E76"/>
                </a:solidFill>
                <a:latin typeface="Microsoft YaHei"/>
              </a:defRPr>
            </a:pPr>
            <a:r>
              <a:rPr dirty="0" err="1"/>
              <a:t>user_service</a:t>
            </a:r>
            <a:r>
              <a:rPr dirty="0"/>
              <a:t> </a:t>
            </a:r>
            <a:r>
              <a:rPr dirty="0" err="1"/>
              <a:t>管身份；blog_service</a:t>
            </a:r>
            <a:r>
              <a:rPr dirty="0"/>
              <a:t> </a:t>
            </a:r>
            <a:r>
              <a:rPr dirty="0" err="1"/>
              <a:t>管内容、互动、推荐、通知；ai_service</a:t>
            </a:r>
            <a:r>
              <a:rPr dirty="0"/>
              <a:t> </a:t>
            </a:r>
            <a:r>
              <a:rPr dirty="0" err="1"/>
              <a:t>管内容分析；chat_service</a:t>
            </a:r>
            <a:r>
              <a:rPr dirty="0"/>
              <a:t> </a:t>
            </a:r>
            <a:r>
              <a:rPr dirty="0" err="1"/>
              <a:t>管私信</a:t>
            </a:r>
            <a:r>
              <a:rPr dirty="0"/>
              <a:t>。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14400" y="3785615"/>
            <a:ext cx="9966960" cy="0"/>
          </a:xfrm>
          <a:prstGeom prst="line">
            <a:avLst/>
          </a:prstGeom>
          <a:ln w="15240">
            <a:solidFill>
              <a:srgbClr val="B3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914400" y="4151376"/>
            <a:ext cx="187451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50" b="1">
                <a:solidFill>
                  <a:srgbClr val="15716E"/>
                </a:solidFill>
                <a:latin typeface="Microsoft YaHei"/>
              </a:defRPr>
            </a:pPr>
            <a:r>
              <a:t>数据层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4151376"/>
            <a:ext cx="8046720" cy="29546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20" b="0">
                <a:solidFill>
                  <a:srgbClr val="606E76"/>
                </a:solidFill>
                <a:latin typeface="Microsoft YaHei"/>
              </a:defRPr>
            </a:pPr>
            <a:r>
              <a:t>MySQL longseason 保存业务表、推荐事件、AI 分析结果和审计日志。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14400" y="4572000"/>
            <a:ext cx="9966960" cy="0"/>
          </a:xfrm>
          <a:prstGeom prst="line">
            <a:avLst/>
          </a:prstGeom>
          <a:ln w="15240">
            <a:solidFill>
              <a:srgbClr val="B3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45B9E"/>
          </a:solidFill>
          <a:ln w="12700">
            <a:solidFill>
              <a:srgbClr val="245B9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02920" y="6492240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7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基于微服务的社交平台的设计与实现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384048"/>
            <a:ext cx="10881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 sz="2100" b="1">
                <a:solidFill>
                  <a:srgbClr val="243846"/>
                </a:solidFill>
                <a:latin typeface="Microsoft YaHei"/>
              </a:defRPr>
            </a:pPr>
            <a:r>
              <a:rPr dirty="0" err="1"/>
              <a:t>服务划分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94360" y="896112"/>
            <a:ext cx="10789920" cy="0"/>
          </a:xfrm>
          <a:prstGeom prst="line">
            <a:avLst/>
          </a:prstGeom>
          <a:noFill/>
          <a:ln w="13970">
            <a:solidFill>
              <a:srgbClr val="D9E1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Box 6"/>
          <p:cNvSpPr txBox="1"/>
          <p:nvPr/>
        </p:nvSpPr>
        <p:spPr>
          <a:xfrm>
            <a:off x="594360" y="1175657"/>
            <a:ext cx="2331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50" b="1">
                <a:solidFill>
                  <a:srgbClr val="15716E"/>
                </a:solidFill>
                <a:latin typeface="Microsoft YaHei"/>
              </a:defRPr>
            </a:pPr>
            <a:r>
              <a:t>前端服务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94360" y="1559705"/>
            <a:ext cx="2331720" cy="0"/>
          </a:xfrm>
          <a:prstGeom prst="line">
            <a:avLst/>
          </a:prstGeom>
          <a:ln w="16510">
            <a:solidFill>
              <a:srgbClr val="1571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429000" y="1175657"/>
            <a:ext cx="2743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50" b="1">
                <a:solidFill>
                  <a:srgbClr val="15716E"/>
                </a:solidFill>
                <a:latin typeface="Microsoft YaHei"/>
              </a:defRPr>
            </a:pPr>
            <a:r>
              <a:t>网关中间服务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429000" y="1559705"/>
            <a:ext cx="2743200" cy="0"/>
          </a:xfrm>
          <a:prstGeom prst="line">
            <a:avLst/>
          </a:prstGeom>
          <a:ln w="16510">
            <a:solidFill>
              <a:srgbClr val="1571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629400" y="1175657"/>
            <a:ext cx="3429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50" b="1">
                <a:solidFill>
                  <a:srgbClr val="15716E"/>
                </a:solidFill>
                <a:latin typeface="Microsoft YaHei"/>
              </a:defRPr>
            </a:pPr>
            <a:r>
              <a:t>后端服务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629400" y="1559705"/>
            <a:ext cx="3429000" cy="0"/>
          </a:xfrm>
          <a:prstGeom prst="line">
            <a:avLst/>
          </a:prstGeom>
          <a:ln w="16510">
            <a:solidFill>
              <a:srgbClr val="1571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94360" y="1742585"/>
            <a:ext cx="2560320" cy="1280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550" b="1">
                <a:solidFill>
                  <a:srgbClr val="15716E"/>
                </a:solidFill>
                <a:latin typeface="Microsoft YaHei"/>
              </a:defRPr>
            </a:pPr>
            <a:r>
              <a:t>mofukaze</a:t>
            </a:r>
          </a:p>
          <a:p>
            <a:pPr>
              <a:spcBef>
                <a:spcPts val="400"/>
              </a:spcBef>
              <a:defRPr sz="1130">
                <a:solidFill>
                  <a:srgbClr val="606E76"/>
                </a:solidFill>
                <a:latin typeface="Microsoft YaHei"/>
              </a:defRPr>
            </a:pPr>
            <a:r>
              <a:t>Nuxt3 前端</a:t>
            </a:r>
          </a:p>
          <a:p>
            <a:pPr>
              <a:spcBef>
                <a:spcPts val="400"/>
              </a:spcBef>
              <a:defRPr sz="1130">
                <a:solidFill>
                  <a:srgbClr val="606E76"/>
                </a:solidFill>
                <a:latin typeface="Microsoft YaHei"/>
              </a:defRPr>
            </a:pPr>
            <a:r>
              <a:t>页面展示、发文、通知、私信与运维入口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1742585"/>
            <a:ext cx="2743200" cy="1280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550" b="1">
                <a:solidFill>
                  <a:srgbClr val="15716E"/>
                </a:solidFill>
                <a:latin typeface="Microsoft YaHei"/>
              </a:defRPr>
            </a:pPr>
            <a:r>
              <a:t>api_gateway</a:t>
            </a:r>
          </a:p>
          <a:p>
            <a:pPr>
              <a:spcBef>
                <a:spcPts val="400"/>
              </a:spcBef>
              <a:defRPr sz="1110">
                <a:solidFill>
                  <a:srgbClr val="606E76"/>
                </a:solidFill>
                <a:latin typeface="Microsoft YaHei"/>
              </a:defRPr>
            </a:pPr>
            <a:r>
              <a:t>统一 API 入口</a:t>
            </a:r>
          </a:p>
          <a:p>
            <a:pPr>
              <a:spcBef>
                <a:spcPts val="400"/>
              </a:spcBef>
              <a:defRPr sz="1110">
                <a:solidFill>
                  <a:srgbClr val="606E76"/>
                </a:solidFill>
                <a:latin typeface="Microsoft YaHei"/>
              </a:defRPr>
            </a:pPr>
            <a:r>
              <a:t>路由转发、限流、requestId 透传</a:t>
            </a:r>
          </a:p>
          <a:p>
            <a:pPr>
              <a:spcBef>
                <a:spcPts val="400"/>
              </a:spcBef>
              <a:defRPr sz="1110">
                <a:solidFill>
                  <a:srgbClr val="606E76"/>
                </a:solidFill>
                <a:latin typeface="Microsoft YaHei"/>
              </a:defRPr>
            </a:pPr>
            <a:r>
              <a:t>WebSocket 代理与审计查询入口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1742585"/>
            <a:ext cx="1691640" cy="129844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420" b="1">
                <a:solidFill>
                  <a:srgbClr val="15716E"/>
                </a:solidFill>
                <a:latin typeface="Microsoft YaHei"/>
              </a:defRPr>
            </a:pPr>
            <a:r>
              <a:t>user_service</a:t>
            </a:r>
          </a:p>
          <a:p>
            <a:pPr>
              <a:spcBef>
                <a:spcPts val="400"/>
              </a:spcBef>
              <a:defRPr sz="1070">
                <a:solidFill>
                  <a:srgbClr val="606E76"/>
                </a:solidFill>
                <a:latin typeface="Microsoft YaHei"/>
              </a:defRPr>
            </a:pPr>
            <a:r>
              <a:t>注册登录</a:t>
            </a:r>
          </a:p>
          <a:p>
            <a:pPr>
              <a:spcBef>
                <a:spcPts val="400"/>
              </a:spcBef>
              <a:defRPr sz="1070">
                <a:solidFill>
                  <a:srgbClr val="606E76"/>
                </a:solidFill>
                <a:latin typeface="Microsoft YaHei"/>
              </a:defRPr>
            </a:pPr>
            <a:r>
              <a:t>会话与角色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1742585"/>
            <a:ext cx="1965960" cy="129844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420" b="1">
                <a:solidFill>
                  <a:srgbClr val="15716E"/>
                </a:solidFill>
                <a:latin typeface="Microsoft YaHei"/>
              </a:defRPr>
            </a:pPr>
            <a:r>
              <a:t>blog_service</a:t>
            </a:r>
          </a:p>
          <a:p>
            <a:pPr>
              <a:spcBef>
                <a:spcPts val="400"/>
              </a:spcBef>
              <a:defRPr sz="1070">
                <a:solidFill>
                  <a:srgbClr val="606E76"/>
                </a:solidFill>
                <a:latin typeface="Microsoft YaHei"/>
              </a:defRPr>
            </a:pPr>
            <a:r>
              <a:t>内容互动</a:t>
            </a:r>
          </a:p>
          <a:p>
            <a:pPr>
              <a:spcBef>
                <a:spcPts val="400"/>
              </a:spcBef>
              <a:defRPr sz="1070">
                <a:solidFill>
                  <a:srgbClr val="606E76"/>
                </a:solidFill>
                <a:latin typeface="Microsoft YaHei"/>
              </a:defRPr>
            </a:pPr>
            <a:r>
              <a:t>推荐与通知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3306209"/>
            <a:ext cx="1691640" cy="129844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420" b="1">
                <a:solidFill>
                  <a:srgbClr val="15716E"/>
                </a:solidFill>
                <a:latin typeface="Microsoft YaHei"/>
              </a:defRPr>
            </a:pPr>
            <a:r>
              <a:t>ai_service</a:t>
            </a:r>
          </a:p>
          <a:p>
            <a:pPr>
              <a:spcBef>
                <a:spcPts val="400"/>
              </a:spcBef>
              <a:defRPr sz="1070">
                <a:solidFill>
                  <a:srgbClr val="606E76"/>
                </a:solidFill>
                <a:latin typeface="Microsoft YaHei"/>
              </a:defRPr>
            </a:pPr>
            <a:r>
              <a:t>评分标签</a:t>
            </a:r>
          </a:p>
          <a:p>
            <a:pPr>
              <a:spcBef>
                <a:spcPts val="400"/>
              </a:spcBef>
              <a:defRPr sz="1070">
                <a:solidFill>
                  <a:srgbClr val="606E76"/>
                </a:solidFill>
                <a:latin typeface="Microsoft YaHei"/>
              </a:defRPr>
            </a:pPr>
            <a:r>
              <a:t>风险与 Provider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9640" y="3306209"/>
            <a:ext cx="1965960" cy="129844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420" b="1">
                <a:solidFill>
                  <a:srgbClr val="15716E"/>
                </a:solidFill>
                <a:latin typeface="Microsoft YaHei"/>
              </a:defRPr>
            </a:pPr>
            <a:r>
              <a:t>chat_service</a:t>
            </a:r>
          </a:p>
          <a:p>
            <a:pPr>
              <a:spcBef>
                <a:spcPts val="400"/>
              </a:spcBef>
              <a:defRPr sz="1070">
                <a:solidFill>
                  <a:srgbClr val="606E76"/>
                </a:solidFill>
                <a:latin typeface="Microsoft YaHei"/>
              </a:defRPr>
            </a:pPr>
            <a:r>
              <a:t>私信线程</a:t>
            </a:r>
          </a:p>
          <a:p>
            <a:pPr>
              <a:spcBef>
                <a:spcPts val="400"/>
              </a:spcBef>
              <a:defRPr sz="1070">
                <a:solidFill>
                  <a:srgbClr val="606E76"/>
                </a:solidFill>
                <a:latin typeface="Microsoft YaHei"/>
              </a:defRPr>
            </a:pPr>
            <a:r>
              <a:t>消息与 WebSocket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200400" y="1129937"/>
            <a:ext cx="0" cy="3611880"/>
          </a:xfrm>
          <a:prstGeom prst="line">
            <a:avLst/>
          </a:prstGeom>
          <a:ln w="15240">
            <a:solidFill>
              <a:srgbClr val="B3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400800" y="1129937"/>
            <a:ext cx="0" cy="3611880"/>
          </a:xfrm>
          <a:prstGeom prst="line">
            <a:avLst/>
          </a:prstGeom>
          <a:ln w="15240">
            <a:solidFill>
              <a:srgbClr val="B3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45B9E"/>
          </a:solidFill>
          <a:ln w="12700">
            <a:solidFill>
              <a:srgbClr val="245B9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02920" y="6492240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7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基于微服务的社交平台的设计与实现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384048"/>
            <a:ext cx="10881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 sz="2100" b="1">
                <a:solidFill>
                  <a:srgbClr val="243846"/>
                </a:solidFill>
                <a:latin typeface="Microsoft YaHei"/>
              </a:defRPr>
            </a:pPr>
            <a:r>
              <a:rPr dirty="0"/>
              <a:t>AI </a:t>
            </a:r>
            <a:r>
              <a:rPr dirty="0" err="1"/>
              <a:t>治理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94360" y="896112"/>
            <a:ext cx="10789920" cy="0"/>
          </a:xfrm>
          <a:prstGeom prst="line">
            <a:avLst/>
          </a:prstGeom>
          <a:noFill/>
          <a:ln w="13970">
            <a:solidFill>
              <a:srgbClr val="D9E1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Box 6"/>
          <p:cNvSpPr txBox="1"/>
          <p:nvPr/>
        </p:nvSpPr>
        <p:spPr>
          <a:xfrm>
            <a:off x="612647" y="1261871"/>
            <a:ext cx="618255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5716E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7" y="1261871"/>
            <a:ext cx="2747799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243846"/>
                </a:solidFill>
                <a:latin typeface="Microsoft YaHei"/>
              </a:defRPr>
            </a:pPr>
            <a:r>
              <a:t>触发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51176" y="1261871"/>
            <a:ext cx="7693836" cy="2800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20" b="0">
                <a:solidFill>
                  <a:srgbClr val="606E76"/>
                </a:solidFill>
                <a:latin typeface="Microsoft YaHei"/>
              </a:defRPr>
            </a:pPr>
            <a:r>
              <a:t>文章创建后，blog_service 调用 ai_service，文章先保持待审核。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7" y="1920239"/>
            <a:ext cx="618255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5716E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7" y="1920239"/>
            <a:ext cx="2747799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243846"/>
                </a:solidFill>
                <a:latin typeface="Microsoft YaHei"/>
              </a:defRPr>
            </a:pPr>
            <a:r>
              <a:t>构造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51176" y="1920239"/>
            <a:ext cx="7693836" cy="2800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20" b="0">
                <a:solidFill>
                  <a:srgbClr val="606E76"/>
                </a:solidFill>
                <a:latin typeface="Microsoft YaHei"/>
              </a:defRPr>
            </a:pPr>
            <a:r>
              <a:t>真实 Provider 使用 messages 风格：system 约束 + user 任务 + 输出 schema + 标签库。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7" y="2578607"/>
            <a:ext cx="618255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5716E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7" y="2578607"/>
            <a:ext cx="2747799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243846"/>
                </a:solidFill>
                <a:latin typeface="Microsoft YaHei"/>
              </a:defRPr>
            </a:pPr>
            <a:r>
              <a:t>调用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51176" y="2578607"/>
            <a:ext cx="7693836" cy="2800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20" b="0">
                <a:solidFill>
                  <a:srgbClr val="606E76"/>
                </a:solidFill>
                <a:latin typeface="Microsoft YaHei"/>
              </a:defRPr>
            </a:pPr>
            <a:r>
              <a:t>Provider 层屏蔽 Mock 和真实模型差异，真实模型可按配置轮询。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7" y="3236975"/>
            <a:ext cx="618255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5716E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7" y="3236975"/>
            <a:ext cx="2747799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243846"/>
                </a:solidFill>
                <a:latin typeface="Microsoft YaHei"/>
              </a:defRPr>
            </a:pPr>
            <a:r>
              <a:t>规范化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51176" y="3236975"/>
            <a:ext cx="7693836" cy="2800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20" b="0">
                <a:solidFill>
                  <a:srgbClr val="606E76"/>
                </a:solidFill>
                <a:latin typeface="Microsoft YaHei"/>
              </a:defRPr>
            </a:pPr>
            <a:r>
              <a:t>解析 JSON，限制分数范围，校验标签必须来自预设标签库。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7" y="3895343"/>
            <a:ext cx="618255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5716E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7" y="3895343"/>
            <a:ext cx="2747799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243846"/>
                </a:solidFill>
                <a:latin typeface="Microsoft YaHei"/>
              </a:defRPr>
            </a:pPr>
            <a:r>
              <a:t>落库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51176" y="3895343"/>
            <a:ext cx="7693836" cy="2800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20" b="0">
                <a:solidFill>
                  <a:srgbClr val="606E76"/>
                </a:solidFill>
                <a:latin typeface="Microsoft YaHei"/>
              </a:defRPr>
            </a:pPr>
            <a:r>
              <a:t>写入 article_ai_analysis、article_ai_tag_on_article，并更新文章状态。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4380" y="4417896"/>
            <a:ext cx="4800600" cy="438912"/>
          </a:xfrm>
          <a:prstGeom prst="rect">
            <a:avLst/>
          </a:prstGeom>
          <a:solidFill>
            <a:srgbClr val="E4F7F3"/>
          </a:solidFill>
          <a:ln w="8890">
            <a:solidFill>
              <a:srgbClr val="B3D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rIns="146304" rtlCol="0" anchor="ctr"/>
          <a:lstStyle/>
          <a:p>
            <a:pPr algn="ctr">
              <a:defRPr sz="1380" b="1">
                <a:solidFill>
                  <a:srgbClr val="15716E"/>
                </a:solidFill>
                <a:latin typeface="Microsoft YaHei"/>
              </a:defRPr>
            </a:pPr>
            <a:r>
              <a:rPr dirty="0" err="1"/>
              <a:t>失败策略：模型异常不放行，文章进入</a:t>
            </a:r>
            <a:r>
              <a:rPr dirty="0"/>
              <a:t> REVIEW_REQUIRED。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45B9E"/>
          </a:solidFill>
          <a:ln w="12700">
            <a:solidFill>
              <a:srgbClr val="245B9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02920" y="6492240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7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基于微服务的社交平台的设计与实现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384048"/>
            <a:ext cx="10881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 sz="2100" b="1">
                <a:solidFill>
                  <a:srgbClr val="243846"/>
                </a:solidFill>
                <a:latin typeface="Microsoft YaHei"/>
              </a:defRPr>
            </a:pPr>
            <a:r>
              <a:t>画像反馈：行为改变下一次推荐</a:t>
            </a:r>
            <a:endParaRPr lang="en-US" altLang="zh-CN" sz="2100" b="1" dirty="0">
              <a:solidFill>
                <a:srgbClr val="243846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94360" y="896112"/>
            <a:ext cx="10789920" cy="0"/>
          </a:xfrm>
          <a:prstGeom prst="line">
            <a:avLst/>
          </a:prstGeom>
          <a:noFill/>
          <a:ln w="13970">
            <a:solidFill>
              <a:srgbClr val="D9E1EA"/>
            </a:solidFill>
            <a:prstDash val="solid"/>
          </a:ln>
        </p:spPr>
        <p:txBody>
          <a:bodyPr/>
          <a:lstStyle/>
          <a:p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47548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5716E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44752" y="1874519"/>
            <a:ext cx="1417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243846"/>
                </a:solidFill>
                <a:latin typeface="Microsoft YaHei"/>
              </a:defRPr>
            </a:pPr>
            <a:r>
              <a:t>推荐展示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1874519"/>
            <a:ext cx="7772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40" b="0">
                <a:solidFill>
                  <a:srgbClr val="606E76"/>
                </a:solidFill>
                <a:latin typeface="Microsoft YaHei"/>
              </a:defRPr>
            </a:pPr>
            <a:r>
              <a:t>返回列表时自动写入曝光事件，并更新已看记录。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14400" y="2304287"/>
            <a:ext cx="9966960" cy="0"/>
          </a:xfrm>
          <a:prstGeom prst="line">
            <a:avLst/>
          </a:prstGeom>
          <a:ln w="15240">
            <a:solidFill>
              <a:srgbClr val="B3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14400" y="2551176"/>
            <a:ext cx="47548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5716E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44752" y="2551176"/>
            <a:ext cx="1417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243846"/>
                </a:solidFill>
                <a:latin typeface="Microsoft YaHei"/>
              </a:defRPr>
            </a:pPr>
            <a:r>
              <a:t>用户行为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2551176"/>
            <a:ext cx="7772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40" b="0">
                <a:solidFill>
                  <a:srgbClr val="606E76"/>
                </a:solidFill>
                <a:latin typeface="Microsoft YaHei"/>
              </a:defRPr>
            </a:pPr>
            <a:r>
              <a:t>点击、停留、阅读完成、点赞、评论、隐藏、举报等形成反馈。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14400" y="2980944"/>
            <a:ext cx="9966960" cy="0"/>
          </a:xfrm>
          <a:prstGeom prst="line">
            <a:avLst/>
          </a:prstGeom>
          <a:ln w="15240">
            <a:solidFill>
              <a:srgbClr val="B3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914400" y="3227832"/>
            <a:ext cx="47548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5716E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44752" y="3227832"/>
            <a:ext cx="1417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243846"/>
                </a:solidFill>
                <a:latin typeface="Microsoft YaHei"/>
              </a:defRPr>
            </a:pPr>
            <a:r>
              <a:t>事件入库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3227832"/>
            <a:ext cx="7772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40" b="0">
                <a:solidFill>
                  <a:srgbClr val="606E76"/>
                </a:solidFill>
                <a:latin typeface="Microsoft YaHei"/>
              </a:defRPr>
            </a:pPr>
            <a:r>
              <a:t>统一写入 reco_event，保留场景、位置、用户、文章和 requestId。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14400" y="3657600"/>
            <a:ext cx="9966960" cy="0"/>
          </a:xfrm>
          <a:prstGeom prst="line">
            <a:avLst/>
          </a:prstGeom>
          <a:ln w="15240">
            <a:solidFill>
              <a:srgbClr val="B3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914400" y="3904488"/>
            <a:ext cx="47548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5716E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44752" y="3904488"/>
            <a:ext cx="1417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243846"/>
                </a:solidFill>
                <a:latin typeface="Microsoft YaHei"/>
              </a:defRPr>
            </a:pPr>
            <a:r>
              <a:t>画像刷新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3904488"/>
            <a:ext cx="7772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40" b="0">
                <a:solidFill>
                  <a:srgbClr val="606E76"/>
                </a:solidFill>
                <a:latin typeface="Microsoft YaHei"/>
              </a:defRPr>
            </a:pPr>
            <a:r>
              <a:t>最近 90 天、最多 500 条事件参与计算，旧行为按时间衰减。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14400" y="4334256"/>
            <a:ext cx="9966960" cy="0"/>
          </a:xfrm>
          <a:prstGeom prst="line">
            <a:avLst/>
          </a:prstGeom>
          <a:ln w="15240">
            <a:solidFill>
              <a:srgbClr val="B3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914400" y="4581144"/>
            <a:ext cx="47548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5716E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44752" y="4581144"/>
            <a:ext cx="1417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243846"/>
                </a:solidFill>
                <a:latin typeface="Microsoft YaHei"/>
              </a:defRPr>
            </a:pPr>
            <a:r>
              <a:t>影响排序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0" y="4581144"/>
            <a:ext cx="7772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40" b="0">
                <a:solidFill>
                  <a:srgbClr val="606E76"/>
                </a:solidFill>
                <a:latin typeface="Microsoft YaHei"/>
              </a:defRPr>
            </a:pPr>
            <a:r>
              <a:t>形成 tagVector 与 authorAffinity，参与下一次推荐打分。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" y="5376672"/>
            <a:ext cx="4572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50" b="1">
                <a:solidFill>
                  <a:srgbClr val="15716E"/>
                </a:solidFill>
                <a:latin typeface="Microsoft YaHei"/>
              </a:defRPr>
            </a:pPr>
            <a:r>
              <a:t>正向行为提高相关标签和作者权重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35040" y="5376672"/>
            <a:ext cx="4572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50" b="1">
                <a:solidFill>
                  <a:srgbClr val="15716E"/>
                </a:solidFill>
                <a:latin typeface="Microsoft YaHei"/>
              </a:defRPr>
            </a:pPr>
            <a:r>
              <a:t>隐藏、举报降低相似内容权重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45B9E"/>
          </a:solidFill>
          <a:ln w="12700">
            <a:solidFill>
              <a:srgbClr val="245B9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02920" y="6492240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7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基于微服务的社交平台的设计与实现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384048"/>
            <a:ext cx="10881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 sz="2100" b="1">
                <a:solidFill>
                  <a:srgbClr val="243846"/>
                </a:solidFill>
                <a:latin typeface="Microsoft YaHei"/>
              </a:defRPr>
            </a:pPr>
            <a:r>
              <a:rPr dirty="0" err="1"/>
              <a:t>推荐机制</a:t>
            </a:r>
            <a:endParaRPr lang="en-US" sz="2800" dirty="0">
              <a:latin typeface="+mj-lt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94360" y="896112"/>
            <a:ext cx="10789920" cy="0"/>
          </a:xfrm>
          <a:prstGeom prst="line">
            <a:avLst/>
          </a:prstGeom>
          <a:noFill/>
          <a:ln w="13970">
            <a:solidFill>
              <a:srgbClr val="D9E1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Box 5"/>
          <p:cNvSpPr txBox="1"/>
          <p:nvPr/>
        </p:nvSpPr>
        <p:spPr>
          <a:xfrm>
            <a:off x="868680" y="960120"/>
            <a:ext cx="99669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1">
                <a:solidFill>
                  <a:srgbClr val="15716E"/>
                </a:solidFill>
                <a:latin typeface="Microsoft YaHei"/>
              </a:defRPr>
            </a:pPr>
            <a:r>
              <a:rPr dirty="0" err="1"/>
              <a:t>先过滤可展示候选，再用可解释公式排序；推荐流读取已落库</a:t>
            </a:r>
            <a:r>
              <a:rPr dirty="0"/>
              <a:t> AI </a:t>
            </a:r>
            <a:r>
              <a:rPr dirty="0" err="1"/>
              <a:t>结果</a:t>
            </a:r>
            <a:r>
              <a:rPr dirty="0"/>
              <a:t>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1600199"/>
            <a:ext cx="4709160" cy="4548673"/>
          </a:xfrm>
          <a:prstGeom prst="rect">
            <a:avLst/>
          </a:prstGeom>
          <a:solidFill>
            <a:srgbClr val="E4F7F3"/>
          </a:solidFill>
          <a:ln w="8890">
            <a:solidFill>
              <a:srgbClr val="B3D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rIns="146304" rtlCol="0" anchor="ctr"/>
          <a:lstStyle/>
          <a:p>
            <a:pPr algn="ctr">
              <a:defRPr sz="1560" b="1">
                <a:solidFill>
                  <a:srgbClr val="15716E"/>
                </a:solidFill>
                <a:latin typeface="Microsoft YaHei"/>
              </a:defRPr>
            </a:pPr>
            <a:r>
              <a:rPr dirty="0" err="1"/>
              <a:t>推荐总分</a:t>
            </a:r>
            <a:r>
              <a:rPr dirty="0"/>
              <a:t> =</a:t>
            </a:r>
            <a:br>
              <a:rPr dirty="0"/>
            </a:br>
            <a:r>
              <a:rPr dirty="0" err="1"/>
              <a:t>tagMatch</a:t>
            </a:r>
            <a:r>
              <a:rPr dirty="0"/>
              <a:t> * 4 + </a:t>
            </a:r>
            <a:r>
              <a:rPr dirty="0" err="1"/>
              <a:t>authorAffinity</a:t>
            </a:r>
            <a:r>
              <a:rPr dirty="0"/>
              <a:t> * 2</a:t>
            </a:r>
            <a:br>
              <a:rPr dirty="0"/>
            </a:br>
            <a:r>
              <a:rPr dirty="0"/>
              <a:t>+ </a:t>
            </a:r>
            <a:r>
              <a:rPr dirty="0" err="1"/>
              <a:t>authorQuality</a:t>
            </a:r>
            <a:r>
              <a:rPr dirty="0"/>
              <a:t> * 1.2 + </a:t>
            </a:r>
            <a:r>
              <a:rPr dirty="0" err="1"/>
              <a:t>contentQuality</a:t>
            </a:r>
            <a:r>
              <a:rPr dirty="0"/>
              <a:t> + freshness</a:t>
            </a:r>
            <a:br>
              <a:rPr dirty="0"/>
            </a:br>
            <a:r>
              <a:rPr dirty="0"/>
              <a:t>- </a:t>
            </a:r>
            <a:r>
              <a:rPr dirty="0" err="1"/>
              <a:t>riskPenalty</a:t>
            </a:r>
            <a:r>
              <a:rPr dirty="0"/>
              <a:t> - </a:t>
            </a:r>
            <a:r>
              <a:rPr dirty="0" err="1"/>
              <a:t>seenPenalty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6080760" y="1600200"/>
            <a:ext cx="4389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5716E"/>
                </a:solidFill>
                <a:latin typeface="Microsoft YaHei"/>
              </a:defRPr>
            </a:pPr>
            <a:r>
              <a:t>推荐流程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80760" y="1993392"/>
            <a:ext cx="4389120" cy="0"/>
          </a:xfrm>
          <a:prstGeom prst="line">
            <a:avLst/>
          </a:prstGeom>
          <a:ln w="16510">
            <a:solidFill>
              <a:srgbClr val="1571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080760" y="2286000"/>
            <a:ext cx="34747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5716E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286000"/>
            <a:ext cx="1234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243846"/>
                </a:solidFill>
                <a:latin typeface="Microsoft YaHei"/>
              </a:defRPr>
            </a:pPr>
            <a:r>
              <a:t>候选过滤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35240" y="2286000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80" b="0">
                <a:solidFill>
                  <a:srgbClr val="606E76"/>
                </a:solidFill>
                <a:latin typeface="Microsoft YaHei"/>
              </a:defRPr>
            </a:pPr>
            <a:r>
              <a:t>PUBLISHED / LOW_PRIORITY，且 legalityScore &gt;= 40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2944368"/>
            <a:ext cx="34747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5716E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944368"/>
            <a:ext cx="1234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243846"/>
                </a:solidFill>
                <a:latin typeface="Microsoft YaHei"/>
              </a:defRPr>
            </a:pPr>
            <a:r>
              <a:t>读取信号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35240" y="2944368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80" b="0">
                <a:solidFill>
                  <a:srgbClr val="606E76"/>
                </a:solidFill>
                <a:latin typeface="Microsoft YaHei"/>
              </a:defRPr>
            </a:pPr>
            <a:r>
              <a:t>用户画像、AI 标签、作者质量、14 天统计、已看记录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3602735"/>
            <a:ext cx="34747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5716E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3602735"/>
            <a:ext cx="1234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243846"/>
                </a:solidFill>
                <a:latin typeface="Microsoft YaHei"/>
              </a:defRPr>
            </a:pPr>
            <a:r>
              <a:t>计算排序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35240" y="3602735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80" b="0">
                <a:solidFill>
                  <a:srgbClr val="606E76"/>
                </a:solidFill>
                <a:latin typeface="Microsoft YaHei"/>
              </a:defRPr>
            </a:pPr>
            <a:r>
              <a:t>按公式得到 total score，分数相同按发布时间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0760" y="4261103"/>
            <a:ext cx="34747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5716E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4261103"/>
            <a:ext cx="1234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243846"/>
                </a:solidFill>
                <a:latin typeface="Microsoft YaHei"/>
              </a:defRPr>
            </a:pPr>
            <a:r>
              <a:t>返回并记录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35240" y="4261103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80" b="0">
                <a:solidFill>
                  <a:srgbClr val="606E76"/>
                </a:solidFill>
                <a:latin typeface="Microsoft YaHei"/>
              </a:defRPr>
            </a:pPr>
            <a:r>
              <a:t>返回推荐列表，写 reco_request_log、曝光和 seen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45B9E"/>
          </a:solidFill>
          <a:ln w="12700">
            <a:solidFill>
              <a:srgbClr val="245B9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02920" y="6492240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7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基于微服务的社交平台的设计与实现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384048"/>
            <a:ext cx="10881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 sz="2100" b="1">
                <a:solidFill>
                  <a:srgbClr val="243846"/>
                </a:solidFill>
                <a:latin typeface="Microsoft YaHei"/>
              </a:defRPr>
            </a:pPr>
            <a:r>
              <a:t>安全审计：从请求到证据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94360" y="896112"/>
            <a:ext cx="10789920" cy="0"/>
          </a:xfrm>
          <a:prstGeom prst="line">
            <a:avLst/>
          </a:prstGeom>
          <a:noFill/>
          <a:ln w="13970">
            <a:solidFill>
              <a:srgbClr val="D9E1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3017520" cy="12344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600" b="1">
                <a:solidFill>
                  <a:srgbClr val="15716E"/>
                </a:solidFill>
                <a:latin typeface="Microsoft YaHei"/>
              </a:defRPr>
            </a:pPr>
            <a:r>
              <a:t>入口控制</a:t>
            </a:r>
          </a:p>
          <a:p>
            <a:pPr>
              <a:spcBef>
                <a:spcPts val="400"/>
              </a:spcBef>
              <a:defRPr sz="1180">
                <a:solidFill>
                  <a:srgbClr val="606E76"/>
                </a:solidFill>
                <a:latin typeface="Microsoft YaHei"/>
              </a:defRPr>
            </a:pPr>
            <a:r>
              <a:t>网关限流与 requestId 透传</a:t>
            </a:r>
          </a:p>
          <a:p>
            <a:pPr>
              <a:spcBef>
                <a:spcPts val="400"/>
              </a:spcBef>
              <a:defRPr sz="1180">
                <a:solidFill>
                  <a:srgbClr val="606E76"/>
                </a:solidFill>
                <a:latin typeface="Microsoft YaHei"/>
              </a:defRPr>
            </a:pPr>
            <a:r>
              <a:t>WebSocket 请求同样经过网关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43400" y="1783080"/>
            <a:ext cx="3017520" cy="12344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600" b="1">
                <a:solidFill>
                  <a:srgbClr val="15716E"/>
                </a:solidFill>
                <a:latin typeface="Microsoft YaHei"/>
              </a:defRPr>
            </a:pPr>
            <a:r>
              <a:t>业务校验</a:t>
            </a:r>
          </a:p>
          <a:p>
            <a:pPr>
              <a:spcBef>
                <a:spcPts val="400"/>
              </a:spcBef>
              <a:defRPr sz="1180">
                <a:solidFill>
                  <a:srgbClr val="606E76"/>
                </a:solidFill>
                <a:latin typeface="Microsoft YaHei"/>
              </a:defRPr>
            </a:pPr>
            <a:r>
              <a:t>角色判断</a:t>
            </a:r>
          </a:p>
          <a:p>
            <a:pPr>
              <a:spcBef>
                <a:spcPts val="400"/>
              </a:spcBef>
              <a:defRPr sz="1180">
                <a:solidFill>
                  <a:srgbClr val="606E76"/>
                </a:solidFill>
                <a:latin typeface="Microsoft YaHei"/>
              </a:defRPr>
            </a:pPr>
            <a:r>
              <a:t>文章、评论、聊天等资源归属校验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1783080"/>
            <a:ext cx="2926080" cy="12344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600" b="1">
                <a:solidFill>
                  <a:srgbClr val="15716E"/>
                </a:solidFill>
                <a:latin typeface="Microsoft YaHei"/>
              </a:defRPr>
            </a:pPr>
            <a:r>
              <a:t>证据保留</a:t>
            </a:r>
          </a:p>
          <a:p>
            <a:pPr>
              <a:spcBef>
                <a:spcPts val="400"/>
              </a:spcBef>
              <a:defRPr sz="1180">
                <a:solidFill>
                  <a:srgbClr val="606E76"/>
                </a:solidFill>
                <a:latin typeface="Microsoft YaHei"/>
              </a:defRPr>
            </a:pPr>
            <a:r>
              <a:t>audit_log 记录主体、路径、动作、结果</a:t>
            </a:r>
          </a:p>
          <a:p>
            <a:pPr>
              <a:spcBef>
                <a:spcPts val="400"/>
              </a:spcBef>
              <a:defRPr sz="1180">
                <a:solidFill>
                  <a:srgbClr val="606E76"/>
                </a:solidFill>
                <a:latin typeface="Microsoft YaHei"/>
              </a:defRPr>
            </a:pPr>
            <a:r>
              <a:t>管理员运维页查询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14400" y="3310128"/>
            <a:ext cx="9784080" cy="0"/>
          </a:xfrm>
          <a:prstGeom prst="line">
            <a:avLst/>
          </a:prstGeom>
          <a:ln w="15240">
            <a:solidFill>
              <a:srgbClr val="B3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14400" y="3749039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50" b="1">
                <a:solidFill>
                  <a:srgbClr val="15716E"/>
                </a:solidFill>
                <a:latin typeface="Microsoft YaHei"/>
              </a:defRPr>
            </a:pPr>
            <a:r>
              <a:t>记录范围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3749039"/>
            <a:ext cx="8046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60" b="0">
                <a:solidFill>
                  <a:srgbClr val="606E76"/>
                </a:solidFill>
                <a:latin typeface="Microsoft YaHei"/>
              </a:defRPr>
            </a:pPr>
            <a:r>
              <a:t>登录、发文、删除、AI 分析、评论、关注、聊天、异常请求和管理员查询。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370832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50" b="1">
                <a:solidFill>
                  <a:srgbClr val="15716E"/>
                </a:solidFill>
                <a:latin typeface="Microsoft YaHei"/>
              </a:defRPr>
            </a:pPr>
            <a:r>
              <a:t>闭环方式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4370832"/>
            <a:ext cx="8046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60" b="0">
                <a:solidFill>
                  <a:srgbClr val="606E76"/>
                </a:solidFill>
                <a:latin typeface="Microsoft YaHei"/>
              </a:defRPr>
            </a:pPr>
            <a:r>
              <a:t>requestId 定位请求，audit_log 保留行为证据，运维页提供查询入口。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45B9E"/>
          </a:solidFill>
          <a:ln w="12700">
            <a:solidFill>
              <a:srgbClr val="245B9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02920" y="6492240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7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基于微服务的社交平台的设计与实现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384048"/>
            <a:ext cx="10881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 sz="2100" b="1">
                <a:solidFill>
                  <a:srgbClr val="243846"/>
                </a:solidFill>
                <a:latin typeface="Microsoft YaHei"/>
              </a:defRPr>
            </a:pPr>
            <a:r>
              <a:rPr dirty="0" err="1"/>
              <a:t>测试证据：闭环是否跑通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94360" y="896112"/>
            <a:ext cx="10789920" cy="0"/>
          </a:xfrm>
          <a:prstGeom prst="line">
            <a:avLst/>
          </a:prstGeom>
          <a:noFill/>
          <a:ln w="13970">
            <a:solidFill>
              <a:srgbClr val="D9E1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Box 6"/>
          <p:cNvSpPr txBox="1"/>
          <p:nvPr/>
        </p:nvSpPr>
        <p:spPr>
          <a:xfrm>
            <a:off x="868680" y="1737360"/>
            <a:ext cx="20574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400" b="1">
                <a:solidFill>
                  <a:srgbClr val="15716E"/>
                </a:solidFill>
                <a:latin typeface="Microsoft YaHei"/>
              </a:defRPr>
            </a:pPr>
            <a:r>
              <a:t>84 / 82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21408"/>
            <a:ext cx="2057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50" b="0">
                <a:solidFill>
                  <a:srgbClr val="606E76"/>
                </a:solidFill>
                <a:latin typeface="Microsoft YaHei"/>
              </a:defRPr>
            </a:pPr>
            <a:r>
              <a:t>综合黑盒测试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404872"/>
            <a:ext cx="2057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0">
                <a:solidFill>
                  <a:srgbClr val="606E76"/>
                </a:solidFill>
                <a:latin typeface="Microsoft YaHei"/>
              </a:defRPr>
            </a:pPr>
            <a:r>
              <a:t>通过率 97.62%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1737360"/>
            <a:ext cx="20574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400" b="1">
                <a:solidFill>
                  <a:srgbClr val="15716E"/>
                </a:solidFill>
                <a:latin typeface="Microsoft YaHei"/>
              </a:defRPr>
            </a:pPr>
            <a:r>
              <a:t>7 /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2121408"/>
            <a:ext cx="2057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50" b="0">
                <a:solidFill>
                  <a:srgbClr val="606E76"/>
                </a:solidFill>
                <a:latin typeface="Microsoft YaHei"/>
              </a:defRPr>
            </a:pPr>
            <a:r>
              <a:t>定向复验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2404872"/>
            <a:ext cx="2057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0">
                <a:solidFill>
                  <a:srgbClr val="606E76"/>
                </a:solidFill>
                <a:latin typeface="Microsoft YaHei"/>
              </a:defRPr>
            </a:pPr>
            <a:r>
              <a:t>缺陷闭环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9320" y="1737360"/>
            <a:ext cx="20574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400" b="1">
                <a:solidFill>
                  <a:srgbClr val="15716E"/>
                </a:solidFill>
                <a:latin typeface="Microsoft YaHei"/>
              </a:defRPr>
            </a:pPr>
            <a:r>
              <a:t>13 / 13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89320" y="2121408"/>
            <a:ext cx="2057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50" b="0">
                <a:solidFill>
                  <a:srgbClr val="606E76"/>
                </a:solidFill>
                <a:latin typeface="Microsoft YaHei"/>
              </a:defRPr>
            </a:pPr>
            <a:r>
              <a:t>推荐专项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89320" y="2404872"/>
            <a:ext cx="2057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0">
                <a:solidFill>
                  <a:srgbClr val="606E76"/>
                </a:solidFill>
                <a:latin typeface="Microsoft YaHei"/>
              </a:defRPr>
            </a:pPr>
            <a:r>
              <a:t>画像差异有效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1737360"/>
            <a:ext cx="20574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400" b="1">
                <a:solidFill>
                  <a:srgbClr val="15716E"/>
                </a:solidFill>
                <a:latin typeface="Microsoft YaHei"/>
              </a:defRPr>
            </a:pPr>
            <a:r>
              <a:t>160 / 16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9640" y="2121408"/>
            <a:ext cx="2057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50" b="0">
                <a:solidFill>
                  <a:srgbClr val="606E76"/>
                </a:solidFill>
                <a:latin typeface="Microsoft YaHei"/>
              </a:defRPr>
            </a:pPr>
            <a:r>
              <a:t>推荐并发复验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9640" y="2404872"/>
            <a:ext cx="2057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0">
                <a:solidFill>
                  <a:srgbClr val="606E76"/>
                </a:solidFill>
                <a:latin typeface="Microsoft YaHei"/>
              </a:defRPr>
            </a:pPr>
            <a:r>
              <a:t>全 200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68680" y="2907792"/>
            <a:ext cx="9784079" cy="0"/>
          </a:xfrm>
          <a:prstGeom prst="line">
            <a:avLst/>
          </a:prstGeom>
          <a:ln w="15240">
            <a:solidFill>
              <a:srgbClr val="B3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914400" y="3273552"/>
            <a:ext cx="3108960" cy="1051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580" b="1">
                <a:solidFill>
                  <a:srgbClr val="15716E"/>
                </a:solidFill>
                <a:latin typeface="Microsoft YaHei"/>
              </a:defRPr>
            </a:pPr>
            <a:r>
              <a:t>发现的问题</a:t>
            </a:r>
          </a:p>
          <a:p>
            <a:pPr>
              <a:spcBef>
                <a:spcPts val="400"/>
              </a:spcBef>
              <a:defRPr sz="1140">
                <a:solidFill>
                  <a:srgbClr val="606E76"/>
                </a:solidFill>
                <a:latin typeface="Microsoft YaHei"/>
              </a:defRPr>
            </a:pPr>
            <a:r>
              <a:t>注册角色提权风险</a:t>
            </a:r>
          </a:p>
          <a:p>
            <a:pPr>
              <a:spcBef>
                <a:spcPts val="400"/>
              </a:spcBef>
              <a:defRPr sz="1140">
                <a:solidFill>
                  <a:srgbClr val="606E76"/>
                </a:solidFill>
                <a:latin typeface="Microsoft YaHei"/>
              </a:defRPr>
            </a:pPr>
            <a:r>
              <a:t>WebSocket 网关转发</a:t>
            </a:r>
          </a:p>
          <a:p>
            <a:pPr>
              <a:spcBef>
                <a:spcPts val="400"/>
              </a:spcBef>
              <a:defRPr sz="1140">
                <a:solidFill>
                  <a:srgbClr val="606E76"/>
                </a:solidFill>
                <a:latin typeface="Microsoft YaHei"/>
              </a:defRPr>
            </a:pPr>
            <a:r>
              <a:t>推荐并发写入冲突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3273552"/>
            <a:ext cx="3108960" cy="1051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580" b="1">
                <a:solidFill>
                  <a:srgbClr val="15716E"/>
                </a:solidFill>
                <a:latin typeface="Microsoft YaHei"/>
              </a:defRPr>
            </a:pPr>
            <a:r>
              <a:t>推荐专项数据</a:t>
            </a:r>
          </a:p>
          <a:p>
            <a:pPr>
              <a:spcBef>
                <a:spcPts val="400"/>
              </a:spcBef>
              <a:defRPr sz="1140">
                <a:solidFill>
                  <a:srgbClr val="606E76"/>
                </a:solidFill>
                <a:latin typeface="Microsoft YaHei"/>
              </a:defRPr>
            </a:pPr>
            <a:r>
              <a:t>3 类画像用户</a:t>
            </a:r>
          </a:p>
          <a:p>
            <a:pPr>
              <a:spcBef>
                <a:spcPts val="400"/>
              </a:spcBef>
              <a:defRPr sz="1140">
                <a:solidFill>
                  <a:srgbClr val="606E76"/>
                </a:solidFill>
                <a:latin typeface="Microsoft YaHei"/>
              </a:defRPr>
            </a:pPr>
            <a:r>
              <a:t>36 作者 / 291 文章</a:t>
            </a:r>
          </a:p>
          <a:p>
            <a:pPr>
              <a:spcBef>
                <a:spcPts val="400"/>
              </a:spcBef>
              <a:defRPr sz="1140">
                <a:solidFill>
                  <a:srgbClr val="606E76"/>
                </a:solidFill>
                <a:latin typeface="Microsoft YaHei"/>
              </a:defRPr>
            </a:pPr>
            <a:r>
              <a:t>1021 条推荐事件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79" y="3273552"/>
            <a:ext cx="2834640" cy="1051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580" b="1">
                <a:solidFill>
                  <a:srgbClr val="15716E"/>
                </a:solidFill>
                <a:latin typeface="Microsoft YaHei"/>
              </a:defRPr>
            </a:pPr>
            <a:r>
              <a:t>结论边界</a:t>
            </a:r>
          </a:p>
          <a:p>
            <a:pPr>
              <a:spcBef>
                <a:spcPts val="400"/>
              </a:spcBef>
              <a:defRPr sz="1140">
                <a:solidFill>
                  <a:srgbClr val="606E76"/>
                </a:solidFill>
                <a:latin typeface="Microsoft YaHei"/>
              </a:defRPr>
            </a:pPr>
            <a:r>
              <a:t>验证原型闭环</a:t>
            </a:r>
          </a:p>
          <a:p>
            <a:pPr>
              <a:spcBef>
                <a:spcPts val="400"/>
              </a:spcBef>
              <a:defRPr sz="1140">
                <a:solidFill>
                  <a:srgbClr val="606E76"/>
                </a:solidFill>
                <a:latin typeface="Microsoft YaHei"/>
              </a:defRPr>
            </a:pPr>
            <a:r>
              <a:t>不夸大为生产容量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45B9E"/>
          </a:solidFill>
          <a:ln w="12700">
            <a:solidFill>
              <a:srgbClr val="245B9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02920" y="6492240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7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基于微服务的社交平台的设计与实现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384048"/>
            <a:ext cx="10881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 sz="2100" b="1">
                <a:solidFill>
                  <a:srgbClr val="243846"/>
                </a:solidFill>
                <a:latin typeface="Microsoft YaHei"/>
              </a:defRPr>
            </a:pPr>
            <a:r>
              <a:rPr dirty="0" err="1"/>
              <a:t>致谢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94360" y="896112"/>
            <a:ext cx="10789920" cy="0"/>
          </a:xfrm>
          <a:prstGeom prst="line">
            <a:avLst/>
          </a:prstGeom>
          <a:noFill/>
          <a:ln w="13970">
            <a:solidFill>
              <a:srgbClr val="D9E1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Box 17"/>
          <p:cNvSpPr txBox="1"/>
          <p:nvPr/>
        </p:nvSpPr>
        <p:spPr>
          <a:xfrm>
            <a:off x="1341120" y="3145536"/>
            <a:ext cx="9509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800" b="1">
                <a:solidFill>
                  <a:srgbClr val="15716E"/>
                </a:solidFill>
                <a:latin typeface="Microsoft YaHei"/>
              </a:defRPr>
            </a:pPr>
            <a:r>
              <a:rPr dirty="0" err="1"/>
              <a:t>谢谢各位老师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1063</TotalTime>
  <Words>514</Words>
  <Application>Microsoft Office PowerPoint</Application>
  <PresentationFormat>宽屏</PresentationFormat>
  <Paragraphs>158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5" baseType="lpstr">
      <vt:lpstr>等线</vt:lpstr>
      <vt:lpstr>宋体</vt:lpstr>
      <vt:lpstr>Microsoft YaHei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基于微服务的社交平台的设计与实现</dc:title>
  <dc:subject>毕业设计答辩</dc:subject>
  <dc:creator>Administrator</dc:creator>
  <cp:lastModifiedBy>08 miniz</cp:lastModifiedBy>
  <cp:revision>11</cp:revision>
  <dcterms:created xsi:type="dcterms:W3CDTF">2026-05-25T12:38:25Z</dcterms:created>
  <dcterms:modified xsi:type="dcterms:W3CDTF">2026-06-04T04:52:16Z</dcterms:modified>
</cp:coreProperties>
</file>